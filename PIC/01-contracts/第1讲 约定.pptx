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657" r:id="rId1"/>
  </p:sldMasterIdLst>
  <p:notesMasterIdLst>
    <p:notesMasterId r:id="rId33"/>
  </p:notesMasterIdLst>
  <p:sldIdLst>
    <p:sldId id="256" r:id="rId2"/>
    <p:sldId id="275" r:id="rId3"/>
    <p:sldId id="257" r:id="rId4"/>
    <p:sldId id="259" r:id="rId5"/>
    <p:sldId id="277" r:id="rId6"/>
    <p:sldId id="278" r:id="rId7"/>
    <p:sldId id="279" r:id="rId8"/>
    <p:sldId id="280" r:id="rId9"/>
    <p:sldId id="260" r:id="rId10"/>
    <p:sldId id="283" r:id="rId11"/>
    <p:sldId id="261" r:id="rId12"/>
    <p:sldId id="284" r:id="rId13"/>
    <p:sldId id="286" r:id="rId14"/>
    <p:sldId id="263" r:id="rId15"/>
    <p:sldId id="287" r:id="rId16"/>
    <p:sldId id="264" r:id="rId17"/>
    <p:sldId id="265" r:id="rId18"/>
    <p:sldId id="288" r:id="rId19"/>
    <p:sldId id="266" r:id="rId20"/>
    <p:sldId id="289" r:id="rId21"/>
    <p:sldId id="267" r:id="rId22"/>
    <p:sldId id="268" r:id="rId23"/>
    <p:sldId id="269" r:id="rId24"/>
    <p:sldId id="290" r:id="rId25"/>
    <p:sldId id="270" r:id="rId26"/>
    <p:sldId id="292" r:id="rId27"/>
    <p:sldId id="293" r:id="rId28"/>
    <p:sldId id="294" r:id="rId29"/>
    <p:sldId id="272" r:id="rId30"/>
    <p:sldId id="273" r:id="rId31"/>
    <p:sldId id="274" r:id="rId32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rgbClr val="000099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rgbClr val="000099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rgbClr val="000099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rgbClr val="000099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rgbClr val="000099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b="1" kern="1200">
        <a:solidFill>
          <a:srgbClr val="000099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b="1" kern="1200">
        <a:solidFill>
          <a:srgbClr val="000099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b="1" kern="1200">
        <a:solidFill>
          <a:srgbClr val="000099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b="1" kern="1200">
        <a:solidFill>
          <a:srgbClr val="000099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0066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8" autoAdjust="0"/>
    <p:restoredTop sz="94604" autoAdjust="0"/>
  </p:normalViewPr>
  <p:slideViewPr>
    <p:cSldViewPr>
      <p:cViewPr varScale="1">
        <p:scale>
          <a:sx n="108" d="100"/>
          <a:sy n="108" d="100"/>
        </p:scale>
        <p:origin x="1704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17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17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17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BF926682-F603-45D9-AA6F-B09DFAC9C19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8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D6D3A9-0C54-4EEB-A92C-2B67633E53E5}" type="datetime1">
              <a:rPr lang="zh-CN" altLang="en-US"/>
              <a:pPr>
                <a:defRPr/>
              </a:pPr>
              <a:t>2026/3/4</a:t>
            </a:fld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pPr>
              <a:defRPr/>
            </a:pPr>
            <a:fld id="{C3AD0D58-A4ED-47B8-86DD-5AD9AB602F0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59208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7F777C-E3CF-4E08-8ABF-0A755D808E86}" type="datetime1">
              <a:rPr lang="zh-CN" altLang="en-US"/>
              <a:pPr>
                <a:defRPr/>
              </a:pPr>
              <a:t>2026/3/4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546A46-EB5F-4FAB-870F-CDB3B666BA1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65172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AE26DD-514D-4230-9E32-F6461547C07E}" type="datetime1">
              <a:rPr lang="zh-CN" altLang="en-US"/>
              <a:pPr>
                <a:defRPr/>
              </a:pPr>
              <a:t>2026/3/4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6A6A77-4768-4591-9B56-46C9772029B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50674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BC4348-E287-40E2-857D-C3E1206C2C00}" type="datetime1">
              <a:rPr lang="zh-CN" altLang="en-US"/>
              <a:pPr>
                <a:defRPr/>
              </a:pPr>
              <a:t>2026/3/4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750FA2-12FB-44ED-B248-B2665E12DB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74283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1F7F9A-2BA7-447B-8C5D-9444BCD0EA0D}" type="datetime1">
              <a:rPr lang="zh-CN" altLang="en-US"/>
              <a:pPr>
                <a:defRPr/>
              </a:pPr>
              <a:t>2026/3/4</a:t>
            </a:fld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71C303-A272-4680-8F70-DFAD0363CC7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46176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6453E4-BD89-4499-9CD2-1F3B48608BD6}" type="datetime1">
              <a:rPr lang="zh-CN" altLang="en-US"/>
              <a:pPr>
                <a:defRPr/>
              </a:pPr>
              <a:t>2026/3/4</a:t>
            </a:fld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C0B3BB-B723-43F2-AFDD-B8588647001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71875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D39058-2959-4A05-BB82-958BE9D30648}" type="datetime1">
              <a:rPr lang="zh-CN" altLang="en-US"/>
              <a:pPr>
                <a:defRPr/>
              </a:pPr>
              <a:t>2026/3/4</a:t>
            </a:fld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BDEA01-5C66-4628-AEAD-32AB0974B61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39265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BC6346-0015-42E2-841C-E91716E6451D}" type="datetime1">
              <a:rPr lang="zh-CN" altLang="en-US"/>
              <a:pPr>
                <a:defRPr/>
              </a:pPr>
              <a:t>2026/3/4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E072D2-941C-436D-AC57-E77606FE709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5475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82C00-A73E-453C-ADEA-9EF077249745}" type="datetime1">
              <a:rPr lang="zh-CN" altLang="en-US"/>
              <a:pPr>
                <a:defRPr/>
              </a:pPr>
              <a:t>2026/3/4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4D8B3C-0B7D-4CC4-B6CB-5258CB60DDA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33000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D64813-E23B-4FCA-B9E8-35165036E225}" type="datetime1">
              <a:rPr lang="zh-CN" altLang="en-US"/>
              <a:pPr>
                <a:defRPr/>
              </a:pPr>
              <a:t>2026/3/4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CFB321-C006-43CD-BD47-F345E769ED4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70307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903E2F-DD79-4FFF-9367-23C6CC8026D8}" type="datetime1">
              <a:rPr lang="zh-CN" altLang="en-US"/>
              <a:pPr>
                <a:defRPr/>
              </a:pPr>
              <a:t>2026/3/4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C7D70E-7237-43FE-B280-AFAD063742C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979596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BD6834-0984-4191-A203-46E8FC7AB5A4}" type="datetime1">
              <a:rPr lang="zh-CN" altLang="en-US"/>
              <a:pPr>
                <a:defRPr/>
              </a:pPr>
              <a:t>2026/3/4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2EED49-1620-4B8D-B332-A1B896DCCFB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44716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946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400" b="0">
                <a:solidFill>
                  <a:schemeClr val="tx1"/>
                </a:solidFill>
                <a:latin typeface="+mj-lt"/>
              </a:defRPr>
            </a:lvl1pPr>
          </a:lstStyle>
          <a:p>
            <a:pPr>
              <a:defRPr/>
            </a:pPr>
            <a:fld id="{6769411E-A315-440C-B403-DFCC77F025D2}" type="datetime1">
              <a:rPr lang="zh-CN" altLang="en-US"/>
              <a:pPr>
                <a:defRPr/>
              </a:pPr>
              <a:t>2026/3/4</a:t>
            </a:fld>
            <a:endParaRPr lang="en-US" altLang="zh-CN"/>
          </a:p>
        </p:txBody>
      </p:sp>
      <p:sp>
        <p:nvSpPr>
          <p:cNvPr id="1946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400" b="0">
                <a:solidFill>
                  <a:schemeClr val="tx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1946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400" b="0">
                <a:solidFill>
                  <a:schemeClr val="tx1"/>
                </a:solidFill>
                <a:latin typeface="+mj-lt"/>
              </a:defRPr>
            </a:lvl1pPr>
          </a:lstStyle>
          <a:p>
            <a:pPr>
              <a:defRPr/>
            </a:pPr>
            <a:fld id="{8023CD48-CC0A-4430-A248-6A1F9F11DFA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31" name="Freeform 7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2" name="Line 8"/>
          <p:cNvSpPr>
            <a:spLocks noChangeShapeType="1"/>
          </p:cNvSpPr>
          <p:nvPr/>
        </p:nv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BF03A175-8D51-4CF8-9126-B8B0CC3137AF}" type="datetime1">
              <a:rPr lang="zh-CN" altLang="en-US"/>
              <a:pPr>
                <a:defRPr/>
              </a:pPr>
              <a:t>2026/3/4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73D011C-C8FB-4EB9-AEAF-739B9F3FEEF1}" type="slidenum">
              <a:rPr lang="en-US" altLang="zh-CN"/>
              <a:pPr>
                <a:defRPr/>
              </a:pPr>
              <a:t>1</a:t>
            </a:fld>
            <a:endParaRPr lang="en-US" altLang="zh-CN"/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38200" y="1352550"/>
            <a:ext cx="7620000" cy="222885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56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Lecture 1 Contracts</a:t>
            </a:r>
            <a:r>
              <a:rPr lang="en-US" altLang="zh-CN" sz="56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/>
            </a:r>
            <a:br>
              <a:rPr lang="en-US" altLang="zh-CN" sz="56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zh-CN" altLang="en-US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细黑" panose="02010600040101010101" pitchFamily="2" charset="-122"/>
              </a:rPr>
              <a:t>第</a:t>
            </a:r>
            <a:r>
              <a:rPr lang="en-US" altLang="zh-CN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细黑" panose="02010600040101010101" pitchFamily="2" charset="-122"/>
              </a:rPr>
              <a:t>1</a:t>
            </a:r>
            <a:r>
              <a:rPr lang="zh-CN" altLang="en-US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细黑" panose="02010600040101010101" pitchFamily="2" charset="-122"/>
              </a:rPr>
              <a:t>讲 约定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algn="r" eaLnBrk="1" hangingPunct="1">
              <a:defRPr/>
            </a:pPr>
            <a:r>
              <a:rPr lang="zh-CN" altLang="en-US" sz="3200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细黑" panose="02010600040101010101" pitchFamily="2" charset="-122"/>
              </a:rPr>
              <a:t>华中科技大学计算机学院</a:t>
            </a:r>
          </a:p>
          <a:p>
            <a:pPr algn="r" eaLnBrk="1" hangingPunct="1">
              <a:defRPr/>
            </a:pPr>
            <a:endParaRPr lang="zh-CN" altLang="en-US" sz="3200" b="1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ea typeface="华文细黑" panose="02010600040101010101" pitchFamily="2" charset="-122"/>
            </a:endParaRPr>
          </a:p>
          <a:p>
            <a:pPr algn="r" eaLnBrk="1" hangingPunct="1">
              <a:defRPr/>
            </a:pPr>
            <a:r>
              <a:rPr lang="zh-CN" altLang="en-US" sz="3200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细黑" panose="02010600040101010101" pitchFamily="2" charset="-122"/>
              </a:rPr>
              <a:t>李开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92DBE9EC-F90C-4FC9-A0E1-BA105095D9EF}" type="datetime1">
              <a:rPr lang="zh-CN" altLang="en-US"/>
              <a:pPr>
                <a:defRPr/>
              </a:pPr>
              <a:t>2026/3/4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DF965E-DB21-45E4-959F-C20FD993A6DB}" type="slidenum">
              <a:rPr lang="en-US" altLang="zh-CN"/>
              <a:pPr>
                <a:defRPr/>
              </a:pPr>
              <a:t>2</a:t>
            </a:fld>
            <a:endParaRPr lang="en-US" altLang="zh-CN"/>
          </a:p>
        </p:txBody>
      </p:sp>
      <p:sp>
        <p:nvSpPr>
          <p:cNvPr id="51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solidFill>
                  <a:srgbClr val="000099"/>
                </a:solidFill>
                <a:ea typeface="华文细黑" panose="02010600040101010101" pitchFamily="2" charset="-122"/>
              </a:rPr>
              <a:t>什么是命令式程序设计？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229600" cy="4759325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sz="2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算法</a:t>
            </a:r>
            <a:r>
              <a:rPr lang="zh-CN" altLang="en-US" sz="2400" b="1"/>
              <a:t>是程序从初始状态到终结状态的一种转化途径。而</a:t>
            </a:r>
            <a:r>
              <a:rPr lang="zh-CN" altLang="en-US" sz="2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程序的状态</a:t>
            </a:r>
            <a:r>
              <a:rPr lang="zh-CN" altLang="en-US" sz="2400" b="1"/>
              <a:t>对应于逻辑上相互关联的数据集。语句改变了数据，从而引起程序的状态发生变化。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400" b="1"/>
              <a:t>与自然语言中用命令语气指挥行动类似，命令式程序给出了供计算机执行的命令序列。我们所说的过程式程序设计，实际上就是命令式程序设计，这两个术语是同义词。以前我们课堂上讲的</a:t>
            </a:r>
            <a:r>
              <a:rPr lang="en-US" altLang="zh-CN" sz="2400" b="1"/>
              <a:t>C</a:t>
            </a:r>
            <a:r>
              <a:rPr lang="zh-CN" altLang="en-US" sz="2400" b="1"/>
              <a:t>语言程序设计，就属于</a:t>
            </a:r>
            <a:r>
              <a:rPr lang="zh-CN" altLang="en-US" sz="2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命令式程序设计</a:t>
            </a:r>
            <a:r>
              <a:rPr lang="zh-CN" altLang="en-US" sz="2400" b="1"/>
              <a:t>。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400" b="1"/>
              <a:t>程序设计方式主要有四种：命令式程序设计，函数式程序设计，宣言式程序设计，和面向对象程序设计。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B060D3F-96C6-4D0D-BDCC-E5814560BEC4}" type="datetime1">
              <a:rPr lang="zh-CN" altLang="en-US"/>
              <a:pPr>
                <a:defRPr/>
              </a:pPr>
              <a:t>2026/3/4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8674BD-FB76-4F0C-A7DE-3B6DBA86B749}" type="slidenum">
              <a:rPr lang="en-US" altLang="zh-CN"/>
              <a:pPr>
                <a:defRPr/>
              </a:pPr>
              <a:t>3</a:t>
            </a:fld>
            <a:endParaRPr lang="en-US" altLang="zh-CN"/>
          </a:p>
        </p:txBody>
      </p:sp>
      <p:sp>
        <p:nvSpPr>
          <p:cNvPr id="61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000099"/>
                </a:solidFill>
                <a:ea typeface="华文细黑" panose="02010600040101010101" pitchFamily="2" charset="-122"/>
              </a:rPr>
              <a:t>概述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229600" cy="4911725"/>
          </a:xfrm>
        </p:spPr>
        <p:txBody>
          <a:bodyPr/>
          <a:lstStyle/>
          <a:p>
            <a:pPr eaLnBrk="1" hangingPunct="1">
              <a:spcAft>
                <a:spcPct val="20000"/>
              </a:spcAft>
            </a:pPr>
            <a:r>
              <a:rPr lang="en-US" altLang="zh-CN" sz="2400" b="1">
                <a:solidFill>
                  <a:srgbClr val="000099"/>
                </a:solidFill>
              </a:rPr>
              <a:t>C0</a:t>
            </a:r>
            <a:r>
              <a:rPr lang="zh-CN" altLang="en-US" sz="2400" b="1">
                <a:solidFill>
                  <a:srgbClr val="000099"/>
                </a:solidFill>
              </a:rPr>
              <a:t>是</a:t>
            </a:r>
            <a:r>
              <a:rPr lang="en-US" altLang="zh-CN" sz="2400" b="1">
                <a:solidFill>
                  <a:srgbClr val="000099"/>
                </a:solidFill>
              </a:rPr>
              <a:t>CMU</a:t>
            </a:r>
            <a:r>
              <a:rPr lang="zh-CN" altLang="en-US" sz="2400" b="1">
                <a:solidFill>
                  <a:srgbClr val="000099"/>
                </a:solidFill>
              </a:rPr>
              <a:t>开发的一个</a:t>
            </a:r>
            <a:r>
              <a:rPr lang="en-US" altLang="zh-CN" sz="2400" b="1">
                <a:solidFill>
                  <a:srgbClr val="000099"/>
                </a:solidFill>
              </a:rPr>
              <a:t>C</a:t>
            </a:r>
            <a:r>
              <a:rPr lang="zh-CN" altLang="en-US" sz="2400" b="1">
                <a:solidFill>
                  <a:srgbClr val="000099"/>
                </a:solidFill>
              </a:rPr>
              <a:t>语言安全子集，</a:t>
            </a:r>
            <a:r>
              <a:rPr lang="en-US" altLang="zh-CN" sz="2400" b="1">
                <a:solidFill>
                  <a:srgbClr val="000099"/>
                </a:solidFill>
              </a:rPr>
              <a:t>C0</a:t>
            </a:r>
            <a:r>
              <a:rPr lang="zh-CN" altLang="en-US" sz="2400" b="1">
                <a:solidFill>
                  <a:srgbClr val="000099"/>
                </a:solidFill>
              </a:rPr>
              <a:t>专用于讲授</a:t>
            </a:r>
            <a:r>
              <a:rPr lang="en-US" altLang="zh-CN" sz="2400" b="1">
                <a:solidFill>
                  <a:srgbClr val="000099"/>
                </a:solidFill>
              </a:rPr>
              <a:t>Principles of Imperative Computation</a:t>
            </a:r>
            <a:r>
              <a:rPr lang="zh-CN" altLang="en-US" sz="2400" b="1">
                <a:solidFill>
                  <a:srgbClr val="000099"/>
                </a:solidFill>
              </a:rPr>
              <a:t>。</a:t>
            </a:r>
          </a:p>
          <a:p>
            <a:pPr eaLnBrk="1" hangingPunct="1">
              <a:spcAft>
                <a:spcPct val="20000"/>
              </a:spcAft>
            </a:pPr>
            <a:r>
              <a:rPr lang="zh-CN" altLang="en-US" sz="2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约定</a:t>
            </a:r>
            <a:r>
              <a:rPr lang="zh-CN" altLang="en-US" sz="2400" b="1">
                <a:solidFill>
                  <a:srgbClr val="000099"/>
                </a:solidFill>
              </a:rPr>
              <a:t>是在编程时为确保程序正确性而使用的一类特别的声明，</a:t>
            </a:r>
            <a:r>
              <a:rPr lang="en-US" altLang="zh-CN" sz="2400" b="1">
                <a:solidFill>
                  <a:srgbClr val="000099"/>
                </a:solidFill>
              </a:rPr>
              <a:t>C0</a:t>
            </a:r>
            <a:r>
              <a:rPr lang="zh-CN" altLang="en-US" sz="2400" b="1">
                <a:solidFill>
                  <a:srgbClr val="000099"/>
                </a:solidFill>
              </a:rPr>
              <a:t>编译器可以识别。</a:t>
            </a:r>
          </a:p>
          <a:p>
            <a:pPr eaLnBrk="1" hangingPunct="1">
              <a:spcAft>
                <a:spcPct val="20000"/>
              </a:spcAft>
            </a:pPr>
            <a:r>
              <a:rPr lang="zh-CN" altLang="en-US" sz="2400" b="1">
                <a:solidFill>
                  <a:srgbClr val="000099"/>
                </a:solidFill>
              </a:rPr>
              <a:t>本讲介绍以下几种约定：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rgbClr val="000099"/>
                </a:solidFill>
              </a:rPr>
              <a:t>	</a:t>
            </a:r>
            <a:r>
              <a:rPr lang="en-US" altLang="zh-CN" sz="2400" b="1">
                <a:solidFill>
                  <a:srgbClr val="000099"/>
                </a:solidFill>
              </a:rPr>
              <a:t>(1) // @requires                 </a:t>
            </a:r>
            <a:r>
              <a:rPr lang="zh-CN" altLang="en-US" sz="2400" b="1">
                <a:solidFill>
                  <a:srgbClr val="000099"/>
                </a:solidFill>
              </a:rPr>
              <a:t>函数前置条件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rgbClr val="000099"/>
                </a:solidFill>
              </a:rPr>
              <a:t>	</a:t>
            </a:r>
            <a:r>
              <a:rPr lang="en-US" altLang="zh-CN" sz="2400" b="1">
                <a:solidFill>
                  <a:srgbClr val="000099"/>
                </a:solidFill>
              </a:rPr>
              <a:t>(2) // @ensures                 </a:t>
            </a:r>
            <a:r>
              <a:rPr lang="zh-CN" altLang="en-US" sz="2400" b="1">
                <a:solidFill>
                  <a:srgbClr val="000099"/>
                </a:solidFill>
              </a:rPr>
              <a:t>函数后置条件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rgbClr val="000099"/>
                </a:solidFill>
              </a:rPr>
              <a:t>	</a:t>
            </a:r>
            <a:r>
              <a:rPr lang="en-US" altLang="zh-CN" sz="2400" b="1">
                <a:solidFill>
                  <a:srgbClr val="000099"/>
                </a:solidFill>
              </a:rPr>
              <a:t>(3) // @loop_invariant      </a:t>
            </a:r>
            <a:r>
              <a:rPr lang="zh-CN" altLang="en-US" sz="2400" b="1">
                <a:solidFill>
                  <a:srgbClr val="000099"/>
                </a:solidFill>
              </a:rPr>
              <a:t>循环不变量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rgbClr val="000099"/>
                </a:solidFill>
              </a:rPr>
              <a:t>	</a:t>
            </a:r>
            <a:r>
              <a:rPr lang="en-US" altLang="zh-CN" sz="2400" b="1">
                <a:solidFill>
                  <a:srgbClr val="000099"/>
                </a:solidFill>
              </a:rPr>
              <a:t>(4) // @assert                    </a:t>
            </a:r>
            <a:r>
              <a:rPr lang="zh-CN" altLang="en-US" sz="2400" b="1">
                <a:solidFill>
                  <a:srgbClr val="000099"/>
                </a:solidFill>
              </a:rPr>
              <a:t>断言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B21E8E9-2C6E-4AD8-A1CA-572904BF67D3}" type="datetime1">
              <a:rPr lang="zh-CN" altLang="en-US"/>
              <a:pPr>
                <a:defRPr/>
              </a:pPr>
              <a:t>2026/3/4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0F459-BABB-42F5-846F-A74D339C475F}" type="slidenum">
              <a:rPr lang="en-US" altLang="zh-CN"/>
              <a:pPr>
                <a:defRPr/>
              </a:pPr>
              <a:t>4</a:t>
            </a:fld>
            <a:endParaRPr lang="en-US" altLang="zh-CN"/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4838700"/>
          </a:xfrm>
          <a:noFill/>
        </p:spPr>
        <p:txBody>
          <a:bodyPr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 err="1">
                <a:solidFill>
                  <a:srgbClr val="000099"/>
                </a:solidFill>
              </a:rPr>
              <a:t>int</a:t>
            </a:r>
            <a:r>
              <a:rPr lang="en-US" altLang="zh-CN" sz="2400" b="1" dirty="0">
                <a:solidFill>
                  <a:srgbClr val="000099"/>
                </a:solidFill>
              </a:rPr>
              <a:t> f (</a:t>
            </a:r>
            <a:r>
              <a:rPr lang="en-US" altLang="zh-CN" sz="2400" b="1" dirty="0" err="1">
                <a:solidFill>
                  <a:srgbClr val="000099"/>
                </a:solidFill>
              </a:rPr>
              <a:t>int</a:t>
            </a:r>
            <a:r>
              <a:rPr lang="en-US" altLang="zh-CN" sz="2400" b="1" dirty="0">
                <a:solidFill>
                  <a:srgbClr val="000099"/>
                </a:solidFill>
              </a:rPr>
              <a:t> x, </a:t>
            </a:r>
            <a:r>
              <a:rPr lang="en-US" altLang="zh-CN" sz="2400" b="1" dirty="0" err="1">
                <a:solidFill>
                  <a:srgbClr val="000099"/>
                </a:solidFill>
              </a:rPr>
              <a:t>int</a:t>
            </a:r>
            <a:r>
              <a:rPr lang="en-US" altLang="zh-CN" sz="2400" b="1" dirty="0">
                <a:solidFill>
                  <a:srgbClr val="000099"/>
                </a:solidFill>
              </a:rPr>
              <a:t> y)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    </a:t>
            </a:r>
            <a:r>
              <a:rPr lang="en-US" altLang="zh-CN" sz="2400" b="1" dirty="0" err="1">
                <a:solidFill>
                  <a:srgbClr val="000099"/>
                </a:solidFill>
              </a:rPr>
              <a:t>int</a:t>
            </a:r>
            <a:r>
              <a:rPr lang="en-US" altLang="zh-CN" sz="2400" b="1" dirty="0">
                <a:solidFill>
                  <a:srgbClr val="000099"/>
                </a:solidFill>
              </a:rPr>
              <a:t> r = 1;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    while (y &gt; 1)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        if (y % 2 == 1)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            r = x * r;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        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        x = x * x;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        y = y / 2;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    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    return r * x;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}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000099"/>
                </a:solidFill>
                <a:ea typeface="华文细黑" panose="02010600040101010101" pitchFamily="2" charset="-122"/>
              </a:rPr>
              <a:t>一个神秘的程序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B21E8E9-2C6E-4AD8-A1CA-572904BF67D3}" type="datetime1">
              <a:rPr lang="zh-CN" altLang="en-US"/>
              <a:pPr>
                <a:defRPr/>
              </a:pPr>
              <a:t>2026/3/4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0F459-BABB-42F5-846F-A74D339C475F}" type="slidenum">
              <a:rPr lang="en-US" altLang="zh-CN"/>
              <a:pPr>
                <a:defRPr/>
              </a:pPr>
              <a:t>5</a:t>
            </a:fld>
            <a:endParaRPr lang="en-US" altLang="zh-CN"/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3490186"/>
          </a:xfrm>
          <a:noFill/>
        </p:spPr>
        <p:txBody>
          <a:bodyPr>
            <a:spAutoFit/>
          </a:bodyPr>
          <a:lstStyle/>
          <a:p>
            <a:pPr eaLnBrk="1" hangingPunct="1"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% coin mystery2.c0</a:t>
            </a:r>
          </a:p>
          <a:p>
            <a:pPr eaLnBrk="1" hangingPunct="1"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C0 interpreter (coin) 0.3.2 'Nickel' (r256, Thu Jan 3 14:18:03 EST 2013)</a:t>
            </a:r>
          </a:p>
          <a:p>
            <a:pPr eaLnBrk="1" hangingPunct="1"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Type ‘#help’ for help or ‘#quit’ to exit.</a:t>
            </a:r>
          </a:p>
          <a:p>
            <a:pPr eaLnBrk="1" hangingPunct="1"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--&gt;</a:t>
            </a:r>
          </a:p>
          <a:p>
            <a:pPr eaLnBrk="1" hangingPunct="1"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--&gt; 3+8;</a:t>
            </a:r>
          </a:p>
          <a:p>
            <a:pPr eaLnBrk="1" hangingPunct="1"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11 (</a:t>
            </a:r>
            <a:r>
              <a:rPr lang="en-US" altLang="zh-CN" sz="2400" b="1" dirty="0" err="1">
                <a:solidFill>
                  <a:srgbClr val="000099"/>
                </a:solidFill>
              </a:rPr>
              <a:t>int</a:t>
            </a:r>
            <a:r>
              <a:rPr lang="en-US" altLang="zh-CN" sz="2400" b="1" dirty="0">
                <a:solidFill>
                  <a:srgbClr val="000099"/>
                </a:solidFill>
              </a:rPr>
              <a:t>)</a:t>
            </a:r>
          </a:p>
          <a:p>
            <a:pPr eaLnBrk="1" hangingPunct="1"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--&gt;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000099"/>
                </a:solidFill>
                <a:ea typeface="华文细黑" panose="02010600040101010101" pitchFamily="2" charset="-122"/>
              </a:rPr>
              <a:t>对函数功能的猜测</a:t>
            </a:r>
          </a:p>
        </p:txBody>
      </p:sp>
    </p:spTree>
    <p:extLst>
      <p:ext uri="{BB962C8B-B14F-4D97-AF65-F5344CB8AC3E}">
        <p14:creationId xmlns:p14="http://schemas.microsoft.com/office/powerpoint/2010/main" val="4225403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B21E8E9-2C6E-4AD8-A1CA-572904BF67D3}" type="datetime1">
              <a:rPr lang="zh-CN" altLang="en-US"/>
              <a:pPr>
                <a:defRPr/>
              </a:pPr>
              <a:t>2026/3/4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0F459-BABB-42F5-846F-A74D339C475F}" type="slidenum">
              <a:rPr lang="en-US" altLang="zh-CN"/>
              <a:pPr>
                <a:defRPr/>
              </a:pPr>
              <a:t>6</a:t>
            </a:fld>
            <a:endParaRPr lang="en-US" altLang="zh-CN"/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4893647"/>
          </a:xfrm>
          <a:noFill/>
        </p:spPr>
        <p:txBody>
          <a:bodyPr>
            <a:spAutoFit/>
          </a:bodyPr>
          <a:lstStyle/>
          <a:p>
            <a:pPr eaLnBrk="1" hangingPunct="1"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11 (</a:t>
            </a:r>
            <a:r>
              <a:rPr lang="en-US" altLang="zh-CN" sz="2400" b="1" dirty="0" err="1">
                <a:solidFill>
                  <a:srgbClr val="000099"/>
                </a:solidFill>
              </a:rPr>
              <a:t>int</a:t>
            </a:r>
            <a:r>
              <a:rPr lang="en-US" altLang="zh-CN" sz="2400" b="1" dirty="0">
                <a:solidFill>
                  <a:srgbClr val="000099"/>
                </a:solidFill>
              </a:rPr>
              <a:t>)</a:t>
            </a:r>
          </a:p>
          <a:p>
            <a:pPr eaLnBrk="1" hangingPunct="1"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--&gt;</a:t>
            </a:r>
          </a:p>
          <a:p>
            <a:pPr eaLnBrk="1" hangingPunct="1"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--&gt; f(2,3);</a:t>
            </a:r>
          </a:p>
          <a:p>
            <a:pPr eaLnBrk="1" hangingPunct="1"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8 (</a:t>
            </a:r>
            <a:r>
              <a:rPr lang="en-US" altLang="zh-CN" sz="2400" b="1" dirty="0" err="1">
                <a:solidFill>
                  <a:srgbClr val="000099"/>
                </a:solidFill>
              </a:rPr>
              <a:t>int</a:t>
            </a:r>
            <a:r>
              <a:rPr lang="en-US" altLang="zh-CN" sz="2400" b="1" dirty="0">
                <a:solidFill>
                  <a:srgbClr val="000099"/>
                </a:solidFill>
              </a:rPr>
              <a:t>)</a:t>
            </a:r>
          </a:p>
          <a:p>
            <a:pPr eaLnBrk="1" hangingPunct="1"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--&gt; f(2,4);</a:t>
            </a:r>
          </a:p>
          <a:p>
            <a:pPr eaLnBrk="1" hangingPunct="1"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16 (</a:t>
            </a:r>
            <a:r>
              <a:rPr lang="en-US" altLang="zh-CN" sz="2400" b="1" dirty="0" err="1">
                <a:solidFill>
                  <a:srgbClr val="000099"/>
                </a:solidFill>
              </a:rPr>
              <a:t>int</a:t>
            </a:r>
            <a:r>
              <a:rPr lang="en-US" altLang="zh-CN" sz="2400" b="1" dirty="0">
                <a:solidFill>
                  <a:srgbClr val="000099"/>
                </a:solidFill>
              </a:rPr>
              <a:t>)</a:t>
            </a:r>
          </a:p>
          <a:p>
            <a:pPr eaLnBrk="1" hangingPunct="1"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--&gt; f(1,7);</a:t>
            </a:r>
          </a:p>
          <a:p>
            <a:pPr eaLnBrk="1" hangingPunct="1"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1 (</a:t>
            </a:r>
            <a:r>
              <a:rPr lang="en-US" altLang="zh-CN" sz="2400" b="1" dirty="0" err="1">
                <a:solidFill>
                  <a:srgbClr val="000099"/>
                </a:solidFill>
              </a:rPr>
              <a:t>int</a:t>
            </a:r>
            <a:r>
              <a:rPr lang="en-US" altLang="zh-CN" sz="2400" b="1" dirty="0">
                <a:solidFill>
                  <a:srgbClr val="000099"/>
                </a:solidFill>
              </a:rPr>
              <a:t>)</a:t>
            </a:r>
          </a:p>
          <a:p>
            <a:pPr eaLnBrk="1" hangingPunct="1"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--&gt; f(3,2);</a:t>
            </a:r>
          </a:p>
          <a:p>
            <a:pPr eaLnBrk="1" hangingPunct="1"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9 (</a:t>
            </a:r>
            <a:r>
              <a:rPr lang="en-US" altLang="zh-CN" sz="2400" b="1" dirty="0" err="1">
                <a:solidFill>
                  <a:srgbClr val="000099"/>
                </a:solidFill>
              </a:rPr>
              <a:t>int</a:t>
            </a:r>
            <a:r>
              <a:rPr lang="en-US" altLang="zh-CN" sz="2400" b="1" dirty="0">
                <a:solidFill>
                  <a:srgbClr val="000099"/>
                </a:solidFill>
              </a:rPr>
              <a:t>)</a:t>
            </a:r>
          </a:p>
          <a:p>
            <a:pPr eaLnBrk="1" hangingPunct="1"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--&gt;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000099"/>
                </a:solidFill>
                <a:ea typeface="华文细黑" panose="02010600040101010101" pitchFamily="2" charset="-122"/>
              </a:rPr>
              <a:t>对函数功能的猜测</a:t>
            </a:r>
          </a:p>
        </p:txBody>
      </p:sp>
    </p:spTree>
    <p:extLst>
      <p:ext uri="{BB962C8B-B14F-4D97-AF65-F5344CB8AC3E}">
        <p14:creationId xmlns:p14="http://schemas.microsoft.com/office/powerpoint/2010/main" val="1187409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B21E8E9-2C6E-4AD8-A1CA-572904BF67D3}" type="datetime1">
              <a:rPr lang="zh-CN" altLang="en-US"/>
              <a:pPr>
                <a:defRPr/>
              </a:pPr>
              <a:t>2026/3/4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0F459-BABB-42F5-846F-A74D339C475F}" type="slidenum">
              <a:rPr lang="en-US" altLang="zh-CN"/>
              <a:pPr>
                <a:defRPr/>
              </a:pPr>
              <a:t>7</a:t>
            </a:fld>
            <a:endParaRPr lang="en-US" altLang="zh-CN"/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4450449"/>
          </a:xfrm>
          <a:noFill/>
        </p:spPr>
        <p:txBody>
          <a:bodyPr>
            <a:spAutoFit/>
          </a:bodyPr>
          <a:lstStyle/>
          <a:p>
            <a:pPr eaLnBrk="1" hangingPunct="1"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--&gt; f(2,3);</a:t>
            </a:r>
          </a:p>
          <a:p>
            <a:pPr eaLnBrk="1" hangingPunct="1"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8 (</a:t>
            </a:r>
            <a:r>
              <a:rPr lang="en-US" altLang="zh-CN" sz="2400" b="1" dirty="0" err="1">
                <a:solidFill>
                  <a:srgbClr val="000099"/>
                </a:solidFill>
              </a:rPr>
              <a:t>int</a:t>
            </a:r>
            <a:r>
              <a:rPr lang="en-US" altLang="zh-CN" sz="2400" b="1" dirty="0">
                <a:solidFill>
                  <a:srgbClr val="000099"/>
                </a:solidFill>
              </a:rPr>
              <a:t>)</a:t>
            </a:r>
          </a:p>
          <a:p>
            <a:pPr eaLnBrk="1" hangingPunct="1"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--&gt; f(2,4);</a:t>
            </a:r>
          </a:p>
          <a:p>
            <a:pPr eaLnBrk="1" hangingPunct="1"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16 (</a:t>
            </a:r>
            <a:r>
              <a:rPr lang="en-US" altLang="zh-CN" sz="2400" b="1" dirty="0" err="1">
                <a:solidFill>
                  <a:srgbClr val="000099"/>
                </a:solidFill>
              </a:rPr>
              <a:t>int</a:t>
            </a:r>
            <a:r>
              <a:rPr lang="en-US" altLang="zh-CN" sz="2400" b="1" dirty="0">
                <a:solidFill>
                  <a:srgbClr val="000099"/>
                </a:solidFill>
              </a:rPr>
              <a:t>)</a:t>
            </a:r>
          </a:p>
          <a:p>
            <a:pPr eaLnBrk="1" hangingPunct="1"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--&gt; f(1,7);</a:t>
            </a:r>
          </a:p>
          <a:p>
            <a:pPr eaLnBrk="1" hangingPunct="1"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1 (</a:t>
            </a:r>
            <a:r>
              <a:rPr lang="en-US" altLang="zh-CN" sz="2400" b="1" dirty="0" err="1">
                <a:solidFill>
                  <a:srgbClr val="000099"/>
                </a:solidFill>
              </a:rPr>
              <a:t>int</a:t>
            </a:r>
            <a:r>
              <a:rPr lang="en-US" altLang="zh-CN" sz="2400" b="1" dirty="0">
                <a:solidFill>
                  <a:srgbClr val="000099"/>
                </a:solidFill>
              </a:rPr>
              <a:t>)</a:t>
            </a:r>
          </a:p>
          <a:p>
            <a:pPr eaLnBrk="1" hangingPunct="1"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--&gt; f(3,2);</a:t>
            </a:r>
          </a:p>
          <a:p>
            <a:pPr eaLnBrk="1" hangingPunct="1"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9 (</a:t>
            </a:r>
            <a:r>
              <a:rPr lang="en-US" altLang="zh-CN" sz="2400" b="1" dirty="0" err="1">
                <a:solidFill>
                  <a:srgbClr val="000099"/>
                </a:solidFill>
              </a:rPr>
              <a:t>int</a:t>
            </a:r>
            <a:r>
              <a:rPr lang="en-US" altLang="zh-CN" sz="2400" b="1" dirty="0">
                <a:solidFill>
                  <a:srgbClr val="000099"/>
                </a:solidFill>
              </a:rPr>
              <a:t>)</a:t>
            </a:r>
          </a:p>
          <a:p>
            <a:pPr eaLnBrk="1" hangingPunct="1"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--&gt;</a:t>
            </a:r>
          </a:p>
          <a:p>
            <a:pPr eaLnBrk="1" hangingPunct="1">
              <a:buNone/>
            </a:pPr>
            <a:r>
              <a:rPr lang="zh-CN" altLang="en-US" sz="2400" b="1" dirty="0">
                <a:solidFill>
                  <a:srgbClr val="000099"/>
                </a:solidFill>
              </a:rPr>
              <a:t>你可能会猜想                 ，也就是说，</a:t>
            </a:r>
            <a:r>
              <a:rPr lang="en-US" altLang="zh-CN" sz="2400" b="1" dirty="0">
                <a:solidFill>
                  <a:srgbClr val="000099"/>
                </a:solidFill>
              </a:rPr>
              <a:t>x</a:t>
            </a:r>
            <a:r>
              <a:rPr lang="zh-CN" altLang="en-US" sz="2400" b="1" dirty="0">
                <a:solidFill>
                  <a:srgbClr val="000099"/>
                </a:solidFill>
              </a:rPr>
              <a:t>的</a:t>
            </a:r>
            <a:r>
              <a:rPr lang="en-US" altLang="zh-CN" sz="2400" b="1" dirty="0">
                <a:solidFill>
                  <a:srgbClr val="000099"/>
                </a:solidFill>
              </a:rPr>
              <a:t>y</a:t>
            </a:r>
            <a:r>
              <a:rPr lang="zh-CN" altLang="en-US" sz="2400" b="1" dirty="0">
                <a:solidFill>
                  <a:srgbClr val="000099"/>
                </a:solidFill>
              </a:rPr>
              <a:t>次幂</a:t>
            </a:r>
            <a:endParaRPr lang="en-US" altLang="zh-CN" sz="2400" b="1" dirty="0">
              <a:solidFill>
                <a:srgbClr val="000099"/>
              </a:solidFill>
            </a:endParaRP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000099"/>
                </a:solidFill>
                <a:ea typeface="华文细黑" panose="02010600040101010101" pitchFamily="2" charset="-122"/>
              </a:rPr>
              <a:t>对函数功能的猜测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2666999" y="4495799"/>
            <a:ext cx="9733935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6265861"/>
              </p:ext>
            </p:extLst>
          </p:nvPr>
        </p:nvGraphicFramePr>
        <p:xfrm>
          <a:off x="2438399" y="5257800"/>
          <a:ext cx="1371601" cy="3982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44" r:id="rId3" imgW="787400" imgH="228600" progId="Equation.3">
                  <p:embed/>
                </p:oleObj>
              </mc:Choice>
              <mc:Fallback>
                <p:oleObj r:id="rId3" imgW="787400" imgH="2286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399" y="5257800"/>
                        <a:ext cx="1371601" cy="39820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19603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B21E8E9-2C6E-4AD8-A1CA-572904BF67D3}" type="datetime1">
              <a:rPr lang="zh-CN" altLang="en-US"/>
              <a:pPr>
                <a:defRPr/>
              </a:pPr>
              <a:t>2026/3/4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0F459-BABB-42F5-846F-A74D339C475F}" type="slidenum">
              <a:rPr lang="en-US" altLang="zh-CN"/>
              <a:pPr>
                <a:defRPr/>
              </a:pPr>
              <a:t>8</a:t>
            </a:fld>
            <a:endParaRPr lang="en-US" altLang="zh-CN"/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3120854"/>
          </a:xfrm>
          <a:noFill/>
        </p:spPr>
        <p:txBody>
          <a:bodyPr>
            <a:spAutoFit/>
          </a:bodyPr>
          <a:lstStyle/>
          <a:p>
            <a:pPr eaLnBrk="1" hangingPunct="1"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--&gt; f(-2,3);</a:t>
            </a:r>
          </a:p>
          <a:p>
            <a:pPr eaLnBrk="1" hangingPunct="1"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-8 (</a:t>
            </a:r>
            <a:r>
              <a:rPr lang="en-US" altLang="zh-CN" sz="2400" b="1" dirty="0" err="1">
                <a:solidFill>
                  <a:srgbClr val="000099"/>
                </a:solidFill>
              </a:rPr>
              <a:t>int</a:t>
            </a:r>
            <a:r>
              <a:rPr lang="en-US" altLang="zh-CN" sz="2400" b="1" dirty="0">
                <a:solidFill>
                  <a:srgbClr val="000099"/>
                </a:solidFill>
              </a:rPr>
              <a:t>)</a:t>
            </a:r>
          </a:p>
          <a:p>
            <a:pPr eaLnBrk="1" hangingPunct="1"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--&gt; f(2,8);</a:t>
            </a:r>
          </a:p>
          <a:p>
            <a:pPr eaLnBrk="1" hangingPunct="1"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256 (</a:t>
            </a:r>
            <a:r>
              <a:rPr lang="en-US" altLang="zh-CN" sz="2400" b="1" dirty="0" err="1">
                <a:solidFill>
                  <a:srgbClr val="000099"/>
                </a:solidFill>
              </a:rPr>
              <a:t>int</a:t>
            </a:r>
            <a:r>
              <a:rPr lang="en-US" altLang="zh-CN" sz="2400" b="1" dirty="0">
                <a:solidFill>
                  <a:srgbClr val="000099"/>
                </a:solidFill>
              </a:rPr>
              <a:t>)</a:t>
            </a:r>
          </a:p>
          <a:p>
            <a:pPr eaLnBrk="1" hangingPunct="1"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--&gt; f(2,10);</a:t>
            </a:r>
          </a:p>
          <a:p>
            <a:pPr eaLnBrk="1" hangingPunct="1"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1024 (</a:t>
            </a:r>
            <a:r>
              <a:rPr lang="en-US" altLang="zh-CN" sz="2400" b="1" dirty="0" err="1">
                <a:solidFill>
                  <a:srgbClr val="000099"/>
                </a:solidFill>
              </a:rPr>
              <a:t>int</a:t>
            </a:r>
            <a:r>
              <a:rPr lang="en-US" altLang="zh-CN" sz="2400" b="1" dirty="0">
                <a:solidFill>
                  <a:srgbClr val="000099"/>
                </a:solidFill>
              </a:rPr>
              <a:t>)</a:t>
            </a:r>
          </a:p>
          <a:p>
            <a:pPr eaLnBrk="1" hangingPunct="1"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--&gt;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000099"/>
                </a:solidFill>
                <a:ea typeface="华文细黑" panose="02010600040101010101" pitchFamily="2" charset="-122"/>
              </a:rPr>
              <a:t>对函数功能的猜测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2666999" y="4495799"/>
            <a:ext cx="9733935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808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8638242-B514-4E38-9EFE-07E39E2EF42C}" type="datetime1">
              <a:rPr lang="zh-CN" altLang="en-US"/>
              <a:pPr>
                <a:defRPr/>
              </a:pPr>
              <a:t>2026/3/4</a:t>
            </a:fld>
            <a:endParaRPr lang="en-US" altLang="zh-CN"/>
          </a:p>
        </p:txBody>
      </p:sp>
      <p:sp>
        <p:nvSpPr>
          <p:cNvPr id="43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44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5B737E-2C9D-4822-851C-2C9E4D3EF882}" type="slidenum">
              <a:rPr lang="en-US" altLang="zh-CN"/>
              <a:pPr>
                <a:defRPr/>
              </a:pPr>
              <a:t>9</a:t>
            </a:fld>
            <a:endParaRPr lang="en-US" altLang="zh-CN"/>
          </a:p>
        </p:txBody>
      </p:sp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000099"/>
                </a:solidFill>
                <a:ea typeface="华文细黑" panose="02010600040101010101" pitchFamily="2" charset="-122"/>
              </a:rPr>
              <a:t>寻找循环不变量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371600"/>
            <a:ext cx="8153400" cy="4893647"/>
          </a:xfrm>
          <a:noFill/>
        </p:spPr>
        <p:txBody>
          <a:bodyPr>
            <a:spAutoFit/>
          </a:bodyPr>
          <a:lstStyle/>
          <a:p>
            <a:pPr eaLnBrk="1" hangingPunct="1">
              <a:buNone/>
            </a:pPr>
            <a:r>
              <a:rPr lang="en-US" altLang="zh-CN" sz="2400" b="1" dirty="0" err="1">
                <a:solidFill>
                  <a:srgbClr val="000099"/>
                </a:solidFill>
              </a:rPr>
              <a:t>int</a:t>
            </a:r>
            <a:r>
              <a:rPr lang="en-US" altLang="zh-CN" sz="2400" b="1" dirty="0">
                <a:solidFill>
                  <a:srgbClr val="000099"/>
                </a:solidFill>
              </a:rPr>
              <a:t> f (</a:t>
            </a:r>
            <a:r>
              <a:rPr lang="en-US" altLang="zh-CN" sz="2400" b="1" dirty="0" err="1">
                <a:solidFill>
                  <a:srgbClr val="000099"/>
                </a:solidFill>
              </a:rPr>
              <a:t>int</a:t>
            </a:r>
            <a:r>
              <a:rPr lang="en-US" altLang="zh-CN" sz="2400" b="1" dirty="0">
                <a:solidFill>
                  <a:srgbClr val="000099"/>
                </a:solidFill>
              </a:rPr>
              <a:t> x, </a:t>
            </a:r>
            <a:r>
              <a:rPr lang="en-US" altLang="zh-CN" sz="2400" b="1" dirty="0" err="1">
                <a:solidFill>
                  <a:srgbClr val="000099"/>
                </a:solidFill>
              </a:rPr>
              <a:t>int</a:t>
            </a:r>
            <a:r>
              <a:rPr lang="en-US" altLang="zh-CN" sz="2400" b="1" dirty="0">
                <a:solidFill>
                  <a:srgbClr val="000099"/>
                </a:solidFill>
              </a:rPr>
              <a:t> y) {</a:t>
            </a:r>
          </a:p>
          <a:p>
            <a:pPr eaLnBrk="1" hangingPunct="1"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    </a:t>
            </a:r>
            <a:r>
              <a:rPr lang="en-US" altLang="zh-CN" sz="2400" b="1" dirty="0" err="1">
                <a:solidFill>
                  <a:srgbClr val="000099"/>
                </a:solidFill>
              </a:rPr>
              <a:t>int</a:t>
            </a:r>
            <a:r>
              <a:rPr lang="en-US" altLang="zh-CN" sz="2400" b="1" dirty="0">
                <a:solidFill>
                  <a:srgbClr val="000099"/>
                </a:solidFill>
              </a:rPr>
              <a:t> r = 1;</a:t>
            </a:r>
          </a:p>
          <a:p>
            <a:pPr eaLnBrk="1" hangingPunct="1"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    while (y &gt; 1) {</a:t>
            </a:r>
          </a:p>
          <a:p>
            <a:pPr eaLnBrk="1" hangingPunct="1"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        if (y % 2 == 1) {</a:t>
            </a:r>
          </a:p>
          <a:p>
            <a:pPr eaLnBrk="1" hangingPunct="1"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            r = x * r;</a:t>
            </a:r>
          </a:p>
          <a:p>
            <a:pPr eaLnBrk="1" hangingPunct="1"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        }</a:t>
            </a:r>
          </a:p>
          <a:p>
            <a:pPr eaLnBrk="1" hangingPunct="1"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        x = x * x;</a:t>
            </a:r>
          </a:p>
          <a:p>
            <a:pPr eaLnBrk="1" hangingPunct="1"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        y = y / 2;</a:t>
            </a:r>
          </a:p>
          <a:p>
            <a:pPr eaLnBrk="1" hangingPunct="1"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    }</a:t>
            </a:r>
          </a:p>
          <a:p>
            <a:pPr eaLnBrk="1" hangingPunct="1"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    return r * x;</a:t>
            </a:r>
          </a:p>
          <a:p>
            <a:pPr eaLnBrk="1" hangingPunct="1"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}</a:t>
            </a:r>
            <a:endParaRPr lang="zh-CN" altLang="en-US" sz="2400" b="1" dirty="0">
              <a:solidFill>
                <a:srgbClr val="000099"/>
              </a:solidFill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3200400" y="990600"/>
            <a:ext cx="5410200" cy="168257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	</a:t>
            </a:r>
            <a:r>
              <a:rPr lang="zh-CN" altLang="en-US" sz="2400" b="1" dirty="0">
                <a:solidFill>
                  <a:srgbClr val="000099"/>
                </a:solidFill>
              </a:rPr>
              <a:t>假设</a:t>
            </a:r>
            <a:r>
              <a:rPr lang="en-US" altLang="zh-CN" sz="2400" b="1" dirty="0">
                <a:solidFill>
                  <a:srgbClr val="000099"/>
                </a:solidFill>
              </a:rPr>
              <a:t>y</a:t>
            </a:r>
            <a:r>
              <a:rPr lang="zh-CN" altLang="en-US" sz="2400" b="1" dirty="0">
                <a:solidFill>
                  <a:srgbClr val="000099"/>
                </a:solidFill>
              </a:rPr>
              <a:t>是</a:t>
            </a:r>
            <a:r>
              <a:rPr lang="en-US" altLang="zh-CN" sz="2400" b="1" dirty="0">
                <a:solidFill>
                  <a:srgbClr val="000099"/>
                </a:solidFill>
              </a:rPr>
              <a:t>2</a:t>
            </a:r>
            <a:r>
              <a:rPr lang="zh-CN" altLang="en-US" sz="2400" b="1" dirty="0">
                <a:solidFill>
                  <a:srgbClr val="000099"/>
                </a:solidFill>
              </a:rPr>
              <a:t>的幂，那么在整个迭代中</a:t>
            </a:r>
            <a:r>
              <a:rPr lang="en-US" altLang="zh-CN" sz="2400" b="1" dirty="0">
                <a:solidFill>
                  <a:srgbClr val="000099"/>
                </a:solidFill>
              </a:rPr>
              <a:t>y</a:t>
            </a:r>
            <a:r>
              <a:rPr lang="zh-CN" altLang="en-US" sz="2400" b="1" dirty="0">
                <a:solidFill>
                  <a:srgbClr val="000099"/>
                </a:solidFill>
              </a:rPr>
              <a:t>一直是偶数，</a:t>
            </a:r>
            <a:r>
              <a:rPr lang="en-US" altLang="zh-CN" sz="2400" b="1" dirty="0">
                <a:solidFill>
                  <a:srgbClr val="000099"/>
                </a:solidFill>
              </a:rPr>
              <a:t>r</a:t>
            </a:r>
            <a:r>
              <a:rPr lang="zh-CN" altLang="en-US" sz="2400" b="1" dirty="0">
                <a:solidFill>
                  <a:srgbClr val="000099"/>
                </a:solidFill>
              </a:rPr>
              <a:t>总为</a:t>
            </a:r>
            <a:r>
              <a:rPr lang="en-US" altLang="zh-CN" sz="2400" b="1" dirty="0">
                <a:solidFill>
                  <a:srgbClr val="000099"/>
                </a:solidFill>
              </a:rPr>
              <a:t>1</a:t>
            </a:r>
            <a:r>
              <a:rPr lang="zh-CN" altLang="en-US" sz="2400" b="1" dirty="0">
                <a:solidFill>
                  <a:srgbClr val="000099"/>
                </a:solidFill>
              </a:rPr>
              <a:t>。取每次循环条件被测试之前，各变量的值：</a:t>
            </a:r>
          </a:p>
        </p:txBody>
      </p:sp>
      <p:graphicFrame>
        <p:nvGraphicFramePr>
          <p:cNvPr id="12" name="Group 266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4308304"/>
              </p:ext>
            </p:extLst>
          </p:nvPr>
        </p:nvGraphicFramePr>
        <p:xfrm>
          <a:off x="3467100" y="3352800"/>
          <a:ext cx="4876800" cy="2286000"/>
        </p:xfrm>
        <a:graphic>
          <a:graphicData uri="http://schemas.openxmlformats.org/drawingml/2006/table">
            <a:tbl>
              <a:tblPr/>
              <a:tblGrid>
                <a:gridCol w="1570038">
                  <a:extLst>
                    <a:ext uri="{9D8B030D-6E8A-4147-A177-3AD203B41FA5}">
                      <a16:colId xmlns:a16="http://schemas.microsoft.com/office/drawing/2014/main" val="175458873"/>
                    </a:ext>
                  </a:extLst>
                </a:gridCol>
                <a:gridCol w="868362">
                  <a:extLst>
                    <a:ext uri="{9D8B030D-6E8A-4147-A177-3AD203B41FA5}">
                      <a16:colId xmlns:a16="http://schemas.microsoft.com/office/drawing/2014/main" val="353776718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89688605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09814051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963557212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Iteration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y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US" altLang="zh-CN" sz="2400" b="1" i="0" u="sng" strike="noStrike" cap="none" normalizeH="0" baseline="3000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y</a:t>
                      </a:r>
                      <a:endParaRPr kumimoji="0" lang="en-US" altLang="zh-CN" sz="2400" b="1" i="0" u="sng" strike="noStrike" cap="none" normalizeH="0" baseline="3000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1011890"/>
                  </a:ext>
                </a:extLst>
              </a:tr>
              <a:tr h="366713"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256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5494263"/>
                  </a:ext>
                </a:extLst>
              </a:tr>
              <a:tr h="368300"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256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1783896"/>
                  </a:ext>
                </a:extLst>
              </a:tr>
              <a:tr h="366713"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256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2945811"/>
                  </a:ext>
                </a:extLst>
              </a:tr>
              <a:tr h="366713"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256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670972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3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30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30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30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30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" dur="500" fill="hold"/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" dur="500" fill="hold"/>
                                        <p:tgtEl>
                                          <p:spTgt spid="4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" dur="500" fill="hold"/>
                                        <p:tgtEl>
                                          <p:spTgt spid="43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8638242-B514-4E38-9EFE-07E39E2EF42C}" type="datetime1">
              <a:rPr lang="zh-CN" altLang="en-US"/>
              <a:pPr>
                <a:defRPr/>
              </a:pPr>
              <a:t>2026/3/4</a:t>
            </a:fld>
            <a:endParaRPr lang="en-US" altLang="zh-CN"/>
          </a:p>
        </p:txBody>
      </p:sp>
      <p:sp>
        <p:nvSpPr>
          <p:cNvPr id="43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44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5B737E-2C9D-4822-851C-2C9E4D3EF882}" type="slidenum">
              <a:rPr lang="en-US" altLang="zh-CN"/>
              <a:pPr>
                <a:defRPr/>
              </a:pPr>
              <a:t>10</a:t>
            </a:fld>
            <a:endParaRPr lang="en-US" altLang="zh-CN"/>
          </a:p>
        </p:txBody>
      </p:sp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000099"/>
                </a:solidFill>
                <a:ea typeface="华文细黑" panose="02010600040101010101" pitchFamily="2" charset="-122"/>
              </a:rPr>
              <a:t>寻找循环不变量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371600"/>
            <a:ext cx="8153400" cy="4893647"/>
          </a:xfrm>
          <a:noFill/>
        </p:spPr>
        <p:txBody>
          <a:bodyPr>
            <a:spAutoFit/>
          </a:bodyPr>
          <a:lstStyle/>
          <a:p>
            <a:pPr eaLnBrk="1" hangingPunct="1">
              <a:buNone/>
            </a:pPr>
            <a:r>
              <a:rPr lang="en-US" altLang="zh-CN" sz="2400" b="1" dirty="0" err="1">
                <a:solidFill>
                  <a:srgbClr val="000099"/>
                </a:solidFill>
              </a:rPr>
              <a:t>int</a:t>
            </a:r>
            <a:r>
              <a:rPr lang="en-US" altLang="zh-CN" sz="2400" b="1" dirty="0">
                <a:solidFill>
                  <a:srgbClr val="000099"/>
                </a:solidFill>
              </a:rPr>
              <a:t> f (</a:t>
            </a:r>
            <a:r>
              <a:rPr lang="en-US" altLang="zh-CN" sz="2400" b="1" dirty="0" err="1">
                <a:solidFill>
                  <a:srgbClr val="000099"/>
                </a:solidFill>
              </a:rPr>
              <a:t>int</a:t>
            </a:r>
            <a:r>
              <a:rPr lang="en-US" altLang="zh-CN" sz="2400" b="1" dirty="0">
                <a:solidFill>
                  <a:srgbClr val="000099"/>
                </a:solidFill>
              </a:rPr>
              <a:t> x, </a:t>
            </a:r>
            <a:r>
              <a:rPr lang="en-US" altLang="zh-CN" sz="2400" b="1" dirty="0" err="1">
                <a:solidFill>
                  <a:srgbClr val="000099"/>
                </a:solidFill>
              </a:rPr>
              <a:t>int</a:t>
            </a:r>
            <a:r>
              <a:rPr lang="en-US" altLang="zh-CN" sz="2400" b="1" dirty="0">
                <a:solidFill>
                  <a:srgbClr val="000099"/>
                </a:solidFill>
              </a:rPr>
              <a:t> y) {</a:t>
            </a:r>
          </a:p>
          <a:p>
            <a:pPr eaLnBrk="1" hangingPunct="1"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    </a:t>
            </a:r>
            <a:r>
              <a:rPr lang="en-US" altLang="zh-CN" sz="2400" b="1" dirty="0" err="1">
                <a:solidFill>
                  <a:srgbClr val="000099"/>
                </a:solidFill>
              </a:rPr>
              <a:t>int</a:t>
            </a:r>
            <a:r>
              <a:rPr lang="en-US" altLang="zh-CN" sz="2400" b="1" dirty="0">
                <a:solidFill>
                  <a:srgbClr val="000099"/>
                </a:solidFill>
              </a:rPr>
              <a:t> r = 1;</a:t>
            </a:r>
          </a:p>
          <a:p>
            <a:pPr eaLnBrk="1" hangingPunct="1"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    while (y &gt; 1) {</a:t>
            </a:r>
          </a:p>
          <a:p>
            <a:pPr eaLnBrk="1" hangingPunct="1"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        if (y % 2 == 1) {</a:t>
            </a:r>
          </a:p>
          <a:p>
            <a:pPr eaLnBrk="1" hangingPunct="1"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            r = x * r;</a:t>
            </a:r>
          </a:p>
          <a:p>
            <a:pPr eaLnBrk="1" hangingPunct="1"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        }</a:t>
            </a:r>
          </a:p>
          <a:p>
            <a:pPr eaLnBrk="1" hangingPunct="1"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        x = x * x;</a:t>
            </a:r>
          </a:p>
          <a:p>
            <a:pPr eaLnBrk="1" hangingPunct="1"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        y = y / 2;</a:t>
            </a:r>
          </a:p>
          <a:p>
            <a:pPr eaLnBrk="1" hangingPunct="1"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    }</a:t>
            </a:r>
          </a:p>
          <a:p>
            <a:pPr eaLnBrk="1" hangingPunct="1"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    return r * x;</a:t>
            </a:r>
          </a:p>
          <a:p>
            <a:pPr eaLnBrk="1" hangingPunct="1"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}</a:t>
            </a:r>
            <a:endParaRPr lang="zh-CN" altLang="en-US" sz="2400" b="1" dirty="0">
              <a:solidFill>
                <a:srgbClr val="000099"/>
              </a:solidFill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3200400" y="990600"/>
            <a:ext cx="5410200" cy="168257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	</a:t>
            </a:r>
            <a:r>
              <a:rPr lang="zh-CN" altLang="en-US" sz="2400" b="1" dirty="0">
                <a:solidFill>
                  <a:srgbClr val="000099"/>
                </a:solidFill>
              </a:rPr>
              <a:t>假设</a:t>
            </a:r>
            <a:r>
              <a:rPr lang="en-US" altLang="zh-CN" sz="2400" b="1" dirty="0">
                <a:solidFill>
                  <a:srgbClr val="000099"/>
                </a:solidFill>
              </a:rPr>
              <a:t>y</a:t>
            </a:r>
            <a:r>
              <a:rPr lang="zh-CN" altLang="en-US" sz="2400" b="1" dirty="0">
                <a:solidFill>
                  <a:srgbClr val="000099"/>
                </a:solidFill>
              </a:rPr>
              <a:t>是</a:t>
            </a:r>
            <a:r>
              <a:rPr lang="en-US" altLang="zh-CN" sz="2400" b="1" dirty="0">
                <a:solidFill>
                  <a:srgbClr val="000099"/>
                </a:solidFill>
              </a:rPr>
              <a:t>2</a:t>
            </a:r>
            <a:r>
              <a:rPr lang="zh-CN" altLang="en-US" sz="2400" b="1" dirty="0">
                <a:solidFill>
                  <a:srgbClr val="000099"/>
                </a:solidFill>
              </a:rPr>
              <a:t>的幂，那么在整个迭代中</a:t>
            </a:r>
            <a:r>
              <a:rPr lang="en-US" altLang="zh-CN" sz="2400" b="1" dirty="0">
                <a:solidFill>
                  <a:srgbClr val="000099"/>
                </a:solidFill>
              </a:rPr>
              <a:t>y</a:t>
            </a:r>
            <a:r>
              <a:rPr lang="zh-CN" altLang="en-US" sz="2400" b="1" dirty="0">
                <a:solidFill>
                  <a:srgbClr val="000099"/>
                </a:solidFill>
              </a:rPr>
              <a:t>一直是偶数，</a:t>
            </a:r>
            <a:r>
              <a:rPr lang="en-US" altLang="zh-CN" sz="2400" b="1" dirty="0">
                <a:solidFill>
                  <a:srgbClr val="000099"/>
                </a:solidFill>
              </a:rPr>
              <a:t>r</a:t>
            </a:r>
            <a:r>
              <a:rPr lang="zh-CN" altLang="en-US" sz="2400" b="1" dirty="0">
                <a:solidFill>
                  <a:srgbClr val="000099"/>
                </a:solidFill>
              </a:rPr>
              <a:t>总为</a:t>
            </a:r>
            <a:r>
              <a:rPr lang="en-US" altLang="zh-CN" sz="2400" b="1" dirty="0">
                <a:solidFill>
                  <a:srgbClr val="000099"/>
                </a:solidFill>
              </a:rPr>
              <a:t>1</a:t>
            </a:r>
            <a:r>
              <a:rPr lang="zh-CN" altLang="en-US" sz="2400" b="1" dirty="0">
                <a:solidFill>
                  <a:srgbClr val="000099"/>
                </a:solidFill>
              </a:rPr>
              <a:t>。取每次循环条件被测试之前，各变量的值：</a:t>
            </a:r>
          </a:p>
        </p:txBody>
      </p:sp>
      <p:graphicFrame>
        <p:nvGraphicFramePr>
          <p:cNvPr id="12" name="Group 266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340953972"/>
              </p:ext>
            </p:extLst>
          </p:nvPr>
        </p:nvGraphicFramePr>
        <p:xfrm>
          <a:off x="3467100" y="3352800"/>
          <a:ext cx="4876800" cy="2286000"/>
        </p:xfrm>
        <a:graphic>
          <a:graphicData uri="http://schemas.openxmlformats.org/drawingml/2006/table">
            <a:tbl>
              <a:tblPr/>
              <a:tblGrid>
                <a:gridCol w="1570038">
                  <a:extLst>
                    <a:ext uri="{9D8B030D-6E8A-4147-A177-3AD203B41FA5}">
                      <a16:colId xmlns:a16="http://schemas.microsoft.com/office/drawing/2014/main" val="175458873"/>
                    </a:ext>
                  </a:extLst>
                </a:gridCol>
                <a:gridCol w="868362">
                  <a:extLst>
                    <a:ext uri="{9D8B030D-6E8A-4147-A177-3AD203B41FA5}">
                      <a16:colId xmlns:a16="http://schemas.microsoft.com/office/drawing/2014/main" val="353776718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89688605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09814051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963557212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Iteration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y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US" altLang="zh-CN" sz="2400" b="1" i="0" u="none" strike="noStrike" cap="none" normalizeH="0" baseline="3000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y</a:t>
                      </a:r>
                      <a:endParaRPr kumimoji="0" lang="en-US" altLang="zh-CN" sz="2400" b="1" i="0" u="none" strike="noStrike" cap="none" normalizeH="0" baseline="3000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1011890"/>
                  </a:ext>
                </a:extLst>
              </a:tr>
              <a:tr h="366713"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256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5494263"/>
                  </a:ext>
                </a:extLst>
              </a:tr>
              <a:tr h="368300"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256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1783896"/>
                  </a:ext>
                </a:extLst>
              </a:tr>
              <a:tr h="366713"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256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2945811"/>
                  </a:ext>
                </a:extLst>
              </a:tr>
              <a:tr h="366713"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256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67097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9923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3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30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30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30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30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6852006-EEFA-4CCD-BEE2-451BE749D472}" type="datetime1">
              <a:rPr lang="zh-CN" altLang="en-US"/>
              <a:pPr>
                <a:defRPr/>
              </a:pPr>
              <a:t>2026/3/4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CA38AD-F58A-46CE-BB4E-3A9BD7FE58CF}" type="slidenum">
              <a:rPr lang="en-US" altLang="zh-CN"/>
              <a:pPr>
                <a:defRPr/>
              </a:pPr>
              <a:t>11</a:t>
            </a:fld>
            <a:endParaRPr lang="en-US" altLang="zh-CN"/>
          </a:p>
        </p:txBody>
      </p:sp>
      <p:sp>
        <p:nvSpPr>
          <p:cNvPr id="92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solidFill>
                  <a:srgbClr val="000099"/>
                </a:solidFill>
                <a:ea typeface="华文细黑" panose="02010600040101010101" pitchFamily="2" charset="-122"/>
              </a:rPr>
              <a:t>循环不变量的证明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990600"/>
            <a:ext cx="8153400" cy="2382191"/>
          </a:xfrm>
          <a:noFill/>
        </p:spPr>
        <p:txBody>
          <a:bodyPr>
            <a:spAutoFit/>
          </a:bodyPr>
          <a:lstStyle/>
          <a:p>
            <a:pPr marL="0" indent="0" algn="just" eaLnBrk="1" hangingPunct="1">
              <a:lnSpc>
                <a:spcPct val="120000"/>
              </a:lnSpc>
              <a:buNone/>
            </a:pPr>
            <a:r>
              <a:rPr lang="zh-CN" altLang="zh-CN" sz="2400" b="1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为了说明</a:t>
            </a:r>
            <a:r>
              <a:rPr lang="en-US" altLang="zh-CN" sz="2400" b="1" dirty="0" err="1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altLang="zh-CN" sz="2400" b="1" baseline="30000" dirty="0" err="1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lang="zh-CN" altLang="zh-CN" sz="2400" b="1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是循环不变量，我们必须证明，如果循环体执行一次，</a:t>
            </a:r>
            <a:r>
              <a:rPr lang="en-US" altLang="zh-CN" sz="2400" b="1" dirty="0" err="1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altLang="zh-CN" sz="2400" b="1" baseline="30000" dirty="0" err="1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lang="zh-CN" altLang="zh-CN" sz="2400" b="1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之前的值等于</a:t>
            </a:r>
            <a:r>
              <a:rPr lang="en-US" altLang="zh-CN" sz="2400" b="1" dirty="0" err="1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altLang="zh-CN" sz="2400" b="1" baseline="30000" dirty="0" err="1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lang="zh-CN" altLang="zh-CN" sz="2400" b="1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之后的值，我们不能写</a:t>
            </a:r>
            <a:r>
              <a:rPr lang="zh-CN" altLang="en-US" sz="2400" b="1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成</a:t>
            </a:r>
            <a:r>
              <a:rPr lang="en-US" altLang="zh-CN" sz="2400" b="1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altLang="zh-CN" sz="2400" b="1" dirty="0" err="1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altLang="zh-CN" sz="2400" b="1" baseline="30000" dirty="0" err="1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lang="en-US" altLang="zh-CN" sz="2400" b="1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altLang="zh-CN" sz="2400" b="1" dirty="0" err="1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altLang="zh-CN" sz="2400" b="1" baseline="30000" dirty="0" err="1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lang="zh-CN" altLang="en-US" sz="2400" b="1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。</a:t>
            </a:r>
            <a:endParaRPr lang="en-US" altLang="zh-CN" sz="2400" b="1" dirty="0">
              <a:solidFill>
                <a:srgbClr val="000099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 eaLnBrk="1" hangingPunct="1">
              <a:lnSpc>
                <a:spcPct val="120000"/>
              </a:lnSpc>
              <a:buNone/>
            </a:pPr>
            <a:r>
              <a:rPr lang="zh-CN" altLang="zh-CN" sz="2400" b="1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所以，假设有</a:t>
            </a:r>
            <a:r>
              <a:rPr lang="en-US" altLang="zh-CN" sz="2400" b="1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zh-CN" altLang="zh-CN" sz="2400" b="1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，</a:t>
            </a:r>
            <a:r>
              <a:rPr lang="en-US" altLang="zh-CN" sz="2400" b="1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lang="zh-CN" altLang="zh-CN" sz="2400" b="1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，而且</a:t>
            </a:r>
            <a:r>
              <a:rPr lang="en-US" altLang="zh-CN" sz="2400" b="1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lang="zh-CN" altLang="zh-CN" sz="2400" b="1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是</a:t>
            </a:r>
            <a:r>
              <a:rPr lang="en-US" altLang="zh-CN" sz="2400" b="1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zh-CN" altLang="zh-CN" sz="2400" b="1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的幂，在一次迭代之后，</a:t>
            </a:r>
            <a:r>
              <a:rPr lang="zh-CN" altLang="en-US" sz="2400" b="1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将使</a:t>
            </a:r>
            <a:r>
              <a:rPr lang="en-US" altLang="zh-CN" sz="2400" b="1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x’ = x * x</a:t>
            </a:r>
            <a:r>
              <a:rPr lang="zh-CN" altLang="zh-CN" sz="2400" b="1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，</a:t>
            </a:r>
            <a:r>
              <a:rPr lang="en-US" altLang="zh-CN" sz="2400" b="1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y’= y / 2</a:t>
            </a:r>
            <a:r>
              <a:rPr lang="zh-CN" altLang="zh-CN" sz="2400" b="1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。为了</a:t>
            </a:r>
            <a:r>
              <a:rPr lang="zh-CN" altLang="en-US" sz="2400" b="1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说明</a:t>
            </a:r>
            <a:r>
              <a:rPr lang="en-US" altLang="zh-CN" sz="2400" b="1" dirty="0" err="1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altLang="zh-CN" sz="2400" b="1" baseline="30000" dirty="0" err="1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lang="zh-CN" altLang="zh-CN" sz="2400" b="1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是一个循环不变量，我们必须</a:t>
            </a:r>
            <a:r>
              <a:rPr lang="zh-CN" altLang="en-US" sz="2400" b="1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证明  </a:t>
            </a:r>
            <a:r>
              <a:rPr lang="en-US" altLang="zh-CN" sz="2400" b="1" dirty="0" err="1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x’</a:t>
            </a:r>
            <a:r>
              <a:rPr lang="en-US" altLang="zh-CN" sz="2400" b="1" baseline="30000" dirty="0" err="1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lang="en-US" altLang="zh-CN" sz="2400" b="1" baseline="30000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’</a:t>
            </a:r>
            <a:r>
              <a:rPr lang="en-US" altLang="zh-CN" sz="2400" b="1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altLang="zh-CN" sz="2400" b="1" dirty="0" err="1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altLang="zh-CN" sz="2400" b="1" baseline="30000" dirty="0" err="1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lang="zh-CN" altLang="en-US" sz="2400" b="1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。</a:t>
            </a:r>
            <a:r>
              <a:rPr lang="zh-CN" altLang="zh-CN" sz="2400" b="1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所以我们来</a:t>
            </a:r>
            <a:r>
              <a:rPr lang="zh-CN" altLang="en-US" sz="2400" b="1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演</a:t>
            </a:r>
            <a:r>
              <a:rPr lang="zh-CN" altLang="zh-CN" sz="2400" b="1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算：</a:t>
            </a:r>
            <a:endParaRPr lang="zh-CN" altLang="en-US" sz="2400" b="1" dirty="0">
              <a:solidFill>
                <a:srgbClr val="000099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223" name="Rectangle 4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endParaRPr lang="zh-CN" altLang="en-US" sz="1800">
              <a:solidFill>
                <a:srgbClr val="000099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359" y="3327399"/>
            <a:ext cx="7257081" cy="2692401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99" y="3921124"/>
            <a:ext cx="7086600" cy="15049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457200" y="1295400"/>
            <a:ext cx="8229600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 err="1">
                <a:solidFill>
                  <a:srgbClr val="000099"/>
                </a:solidFill>
              </a:rPr>
              <a:t>int</a:t>
            </a:r>
            <a:r>
              <a:rPr lang="en-US" altLang="zh-CN" sz="2400" b="1" dirty="0">
                <a:solidFill>
                  <a:srgbClr val="000099"/>
                </a:solidFill>
              </a:rPr>
              <a:t> f (</a:t>
            </a:r>
            <a:r>
              <a:rPr lang="en-US" altLang="zh-CN" sz="2400" b="1" dirty="0" err="1">
                <a:solidFill>
                  <a:srgbClr val="000099"/>
                </a:solidFill>
              </a:rPr>
              <a:t>int</a:t>
            </a:r>
            <a:r>
              <a:rPr lang="en-US" altLang="zh-CN" sz="2400" b="1" dirty="0">
                <a:solidFill>
                  <a:srgbClr val="000099"/>
                </a:solidFill>
              </a:rPr>
              <a:t> x, </a:t>
            </a:r>
            <a:r>
              <a:rPr lang="en-US" altLang="zh-CN" sz="2400" b="1" dirty="0" err="1">
                <a:solidFill>
                  <a:srgbClr val="000099"/>
                </a:solidFill>
              </a:rPr>
              <a:t>int</a:t>
            </a:r>
            <a:r>
              <a:rPr lang="en-US" altLang="zh-CN" sz="2400" b="1" dirty="0">
                <a:solidFill>
                  <a:srgbClr val="000099"/>
                </a:solidFill>
              </a:rPr>
              <a:t> y)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    </a:t>
            </a:r>
            <a:r>
              <a:rPr lang="en-US" altLang="zh-CN" sz="2400" b="1" dirty="0" err="1">
                <a:solidFill>
                  <a:srgbClr val="000099"/>
                </a:solidFill>
              </a:rPr>
              <a:t>int</a:t>
            </a:r>
            <a:r>
              <a:rPr lang="en-US" altLang="zh-CN" sz="2400" b="1" dirty="0">
                <a:solidFill>
                  <a:srgbClr val="000099"/>
                </a:solidFill>
              </a:rPr>
              <a:t> r = 1;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    while (y &gt; 1)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        if (y % 2 == 1)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            r = x * r;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        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        x = x * x;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        y = y / 2;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    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    </a:t>
            </a:r>
            <a:r>
              <a:rPr lang="en-US" altLang="zh-CN" sz="2400" b="1" dirty="0">
                <a:solidFill>
                  <a:srgbClr val="FF0000"/>
                </a:solidFill>
              </a:rPr>
              <a:t>return r * x;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}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6852006-EEFA-4CCD-BEE2-451BE749D472}" type="datetime1">
              <a:rPr lang="zh-CN" altLang="en-US"/>
              <a:pPr>
                <a:defRPr/>
              </a:pPr>
              <a:t>2026/3/4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CA38AD-F58A-46CE-BB4E-3A9BD7FE58CF}" type="slidenum">
              <a:rPr lang="en-US" altLang="zh-CN"/>
              <a:pPr>
                <a:defRPr/>
              </a:pPr>
              <a:t>12</a:t>
            </a:fld>
            <a:endParaRPr lang="en-US" altLang="zh-CN"/>
          </a:p>
        </p:txBody>
      </p:sp>
      <p:sp>
        <p:nvSpPr>
          <p:cNvPr id="92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000099"/>
                </a:solidFill>
                <a:ea typeface="华文细黑" panose="02010600040101010101" pitchFamily="2" charset="-122"/>
              </a:rPr>
              <a:t>循环不变量隐含着函数后置条件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114800" y="1371600"/>
            <a:ext cx="4495800" cy="3564053"/>
          </a:xfrm>
          <a:solidFill>
            <a:schemeClr val="bg1"/>
          </a:solidFill>
        </p:spPr>
        <p:txBody>
          <a:bodyPr wrap="square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000099"/>
                </a:solidFill>
              </a:rPr>
              <a:t>如果</a:t>
            </a:r>
            <a:r>
              <a:rPr lang="en-US" altLang="zh-CN" sz="2400" b="1" dirty="0">
                <a:solidFill>
                  <a:srgbClr val="000099"/>
                </a:solidFill>
              </a:rPr>
              <a:t>y</a:t>
            </a:r>
            <a:r>
              <a:rPr lang="zh-CN" altLang="en-US" sz="2400" b="1" dirty="0">
                <a:solidFill>
                  <a:srgbClr val="000099"/>
                </a:solidFill>
              </a:rPr>
              <a:t>是</a:t>
            </a:r>
            <a:r>
              <a:rPr lang="en-US" altLang="zh-CN" sz="2400" b="1" dirty="0">
                <a:solidFill>
                  <a:srgbClr val="000099"/>
                </a:solidFill>
              </a:rPr>
              <a:t>2</a:t>
            </a:r>
            <a:r>
              <a:rPr lang="zh-CN" altLang="en-US" sz="2400" b="1" dirty="0">
                <a:solidFill>
                  <a:srgbClr val="000099"/>
                </a:solidFill>
              </a:rPr>
              <a:t>的幂，那么：</a:t>
            </a:r>
            <a:endParaRPr lang="en-US" altLang="zh-CN" sz="2400" b="1" dirty="0">
              <a:solidFill>
                <a:srgbClr val="000099"/>
              </a:solidFill>
            </a:endParaRPr>
          </a:p>
          <a:p>
            <a:pPr eaLnBrk="1" hangingPunct="1"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r  =  1     </a:t>
            </a:r>
            <a:r>
              <a:rPr lang="en-US" altLang="zh-CN" sz="2400" b="1" dirty="0" err="1">
                <a:solidFill>
                  <a:srgbClr val="000099"/>
                </a:solidFill>
              </a:rPr>
              <a:t>x</a:t>
            </a:r>
            <a:r>
              <a:rPr lang="en-US" altLang="zh-CN" sz="2400" b="1" baseline="30000" dirty="0" err="1">
                <a:solidFill>
                  <a:srgbClr val="000099"/>
                </a:solidFill>
              </a:rPr>
              <a:t>y</a:t>
            </a:r>
            <a:r>
              <a:rPr lang="en-US" altLang="zh-CN" sz="2400" b="1" baseline="30000" dirty="0">
                <a:solidFill>
                  <a:srgbClr val="000099"/>
                </a:solidFill>
              </a:rPr>
              <a:t>  </a:t>
            </a:r>
            <a:r>
              <a:rPr lang="zh-CN" altLang="en-US" sz="2400" b="1" dirty="0">
                <a:solidFill>
                  <a:srgbClr val="000099"/>
                </a:solidFill>
              </a:rPr>
              <a:t>保持不变</a:t>
            </a:r>
            <a:endParaRPr lang="en-US" altLang="zh-CN" sz="2400" b="1" dirty="0">
              <a:solidFill>
                <a:srgbClr val="000099"/>
              </a:solidFill>
            </a:endParaRPr>
          </a:p>
          <a:p>
            <a:pPr eaLnBrk="1" hangingPunct="1">
              <a:buNone/>
            </a:pPr>
            <a:r>
              <a:rPr lang="zh-CN" altLang="en-US" sz="2400" b="1" dirty="0">
                <a:solidFill>
                  <a:srgbClr val="000099"/>
                </a:solidFill>
              </a:rPr>
              <a:t>且循环结束时，</a:t>
            </a:r>
            <a:r>
              <a:rPr lang="en-US" altLang="zh-CN" sz="2400" b="1" dirty="0">
                <a:solidFill>
                  <a:srgbClr val="000099"/>
                </a:solidFill>
              </a:rPr>
              <a:t>y  =  1</a:t>
            </a:r>
          </a:p>
          <a:p>
            <a:pPr eaLnBrk="1" hangingPunct="1">
              <a:buNone/>
            </a:pPr>
            <a:endParaRPr lang="en-US" altLang="zh-CN" sz="2400" b="1" dirty="0">
              <a:solidFill>
                <a:srgbClr val="000099"/>
              </a:solidFill>
            </a:endParaRPr>
          </a:p>
          <a:p>
            <a:pPr eaLnBrk="1" hangingPunct="1">
              <a:buNone/>
            </a:pPr>
            <a:r>
              <a:rPr lang="zh-CN" altLang="en-US" sz="2400" b="1" dirty="0">
                <a:solidFill>
                  <a:srgbClr val="000099"/>
                </a:solidFill>
              </a:rPr>
              <a:t>所以：</a:t>
            </a:r>
            <a:endParaRPr lang="en-US" altLang="zh-CN" sz="2400" b="1" dirty="0">
              <a:solidFill>
                <a:srgbClr val="000099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r * x = 1 * x = x = x</a:t>
            </a:r>
            <a:r>
              <a:rPr lang="en-US" altLang="zh-CN" sz="2400" b="1" baseline="30000" dirty="0">
                <a:solidFill>
                  <a:srgbClr val="000099"/>
                </a:solidFill>
              </a:rPr>
              <a:t>1</a:t>
            </a:r>
            <a:r>
              <a:rPr lang="en-US" altLang="zh-CN" sz="2400" b="1" dirty="0">
                <a:solidFill>
                  <a:srgbClr val="000099"/>
                </a:solidFill>
              </a:rPr>
              <a:t> = </a:t>
            </a:r>
            <a:r>
              <a:rPr lang="en-US" altLang="zh-CN" sz="2400" b="1" dirty="0" err="1">
                <a:solidFill>
                  <a:srgbClr val="FF0000"/>
                </a:solidFill>
              </a:rPr>
              <a:t>x</a:t>
            </a:r>
            <a:r>
              <a:rPr lang="en-US" altLang="zh-CN" sz="2400" b="1" baseline="30000" dirty="0" err="1">
                <a:solidFill>
                  <a:srgbClr val="FF0000"/>
                </a:solidFill>
              </a:rPr>
              <a:t>y</a:t>
            </a:r>
            <a:r>
              <a:rPr lang="en-US" altLang="zh-CN" sz="2400" b="1" baseline="30000" dirty="0">
                <a:solidFill>
                  <a:srgbClr val="000099"/>
                </a:solidFill>
              </a:rPr>
              <a:t>     </a:t>
            </a:r>
            <a:r>
              <a:rPr lang="en-US" altLang="zh-CN" sz="2400" b="1" baseline="30000" dirty="0">
                <a:solidFill>
                  <a:srgbClr val="FF0000"/>
                </a:solidFill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</a:rPr>
              <a:t>!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FF0000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000099"/>
                </a:solidFill>
              </a:rPr>
              <a:t>循环能否终止？</a:t>
            </a:r>
          </a:p>
        </p:txBody>
      </p:sp>
      <p:sp>
        <p:nvSpPr>
          <p:cNvPr id="9223" name="Rectangle 4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endParaRPr lang="zh-CN" altLang="en-US" sz="1800">
              <a:solidFill>
                <a:srgbClr val="0000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9701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6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457200" y="1295400"/>
            <a:ext cx="8229600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 err="1">
                <a:solidFill>
                  <a:srgbClr val="000099"/>
                </a:solidFill>
              </a:rPr>
              <a:t>int</a:t>
            </a:r>
            <a:r>
              <a:rPr lang="en-US" altLang="zh-CN" sz="2400" b="1" dirty="0">
                <a:solidFill>
                  <a:srgbClr val="000099"/>
                </a:solidFill>
              </a:rPr>
              <a:t> f (</a:t>
            </a:r>
            <a:r>
              <a:rPr lang="en-US" altLang="zh-CN" sz="2400" b="1" dirty="0" err="1">
                <a:solidFill>
                  <a:srgbClr val="000099"/>
                </a:solidFill>
              </a:rPr>
              <a:t>int</a:t>
            </a:r>
            <a:r>
              <a:rPr lang="en-US" altLang="zh-CN" sz="2400" b="1" dirty="0">
                <a:solidFill>
                  <a:srgbClr val="000099"/>
                </a:solidFill>
              </a:rPr>
              <a:t> x, </a:t>
            </a:r>
            <a:r>
              <a:rPr lang="en-US" altLang="zh-CN" sz="2400" b="1" dirty="0" err="1">
                <a:solidFill>
                  <a:srgbClr val="000099"/>
                </a:solidFill>
              </a:rPr>
              <a:t>int</a:t>
            </a:r>
            <a:r>
              <a:rPr lang="en-US" altLang="zh-CN" sz="2400" b="1" dirty="0">
                <a:solidFill>
                  <a:srgbClr val="000099"/>
                </a:solidFill>
              </a:rPr>
              <a:t> y)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    </a:t>
            </a:r>
            <a:r>
              <a:rPr lang="en-US" altLang="zh-CN" sz="2400" b="1" dirty="0" err="1">
                <a:solidFill>
                  <a:srgbClr val="000099"/>
                </a:solidFill>
              </a:rPr>
              <a:t>int</a:t>
            </a:r>
            <a:r>
              <a:rPr lang="en-US" altLang="zh-CN" sz="2400" b="1" dirty="0">
                <a:solidFill>
                  <a:srgbClr val="000099"/>
                </a:solidFill>
              </a:rPr>
              <a:t> r = 1;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    while (y &gt; 1)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        if (y % 2 == 1)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            r = x * r;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        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        x = x * x;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        y = y / 2;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    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    return r * x;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}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6852006-EEFA-4CCD-BEE2-451BE749D472}" type="datetime1">
              <a:rPr lang="zh-CN" altLang="en-US"/>
              <a:pPr>
                <a:defRPr/>
              </a:pPr>
              <a:t>2026/3/4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CA38AD-F58A-46CE-BB4E-3A9BD7FE58CF}" type="slidenum">
              <a:rPr lang="en-US" altLang="zh-CN"/>
              <a:pPr>
                <a:defRPr/>
              </a:pPr>
              <a:t>13</a:t>
            </a:fld>
            <a:endParaRPr lang="en-US" altLang="zh-CN"/>
          </a:p>
        </p:txBody>
      </p:sp>
      <p:sp>
        <p:nvSpPr>
          <p:cNvPr id="92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000099"/>
                </a:solidFill>
                <a:ea typeface="华文细黑" panose="02010600040101010101" pitchFamily="2" charset="-122"/>
              </a:rPr>
              <a:t>循环是否可以终止？</a:t>
            </a:r>
          </a:p>
        </p:txBody>
      </p:sp>
      <p:sp>
        <p:nvSpPr>
          <p:cNvPr id="9223" name="Rectangle 4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endParaRPr lang="zh-CN" altLang="en-US" sz="1800">
              <a:solidFill>
                <a:srgbClr val="000099"/>
              </a:solidFill>
            </a:endParaRPr>
          </a:p>
        </p:txBody>
      </p:sp>
      <p:sp>
        <p:nvSpPr>
          <p:cNvPr id="1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114800" y="1371600"/>
            <a:ext cx="4495800" cy="4339650"/>
          </a:xfrm>
          <a:solidFill>
            <a:schemeClr val="bg1"/>
          </a:solidFill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000099"/>
                </a:solidFill>
              </a:rPr>
              <a:t>因为  </a:t>
            </a:r>
            <a:r>
              <a:rPr lang="en-US" altLang="zh-CN" sz="2400" b="1" dirty="0">
                <a:solidFill>
                  <a:srgbClr val="000099"/>
                </a:solidFill>
              </a:rPr>
              <a:t>y = 2</a:t>
            </a:r>
            <a:r>
              <a:rPr lang="en-US" altLang="zh-CN" sz="2400" b="1" baseline="30000" dirty="0">
                <a:solidFill>
                  <a:srgbClr val="000099"/>
                </a:solidFill>
              </a:rPr>
              <a:t>n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000099"/>
                </a:solidFill>
              </a:rPr>
              <a:t>每次循环  </a:t>
            </a:r>
            <a:r>
              <a:rPr lang="en-US" altLang="zh-CN" sz="2400" b="1" dirty="0">
                <a:solidFill>
                  <a:srgbClr val="000099"/>
                </a:solidFill>
              </a:rPr>
              <a:t>n </a:t>
            </a:r>
            <a:r>
              <a:rPr lang="zh-CN" altLang="en-US" sz="2400" b="1" dirty="0">
                <a:solidFill>
                  <a:srgbClr val="000099"/>
                </a:solidFill>
              </a:rPr>
              <a:t>减少</a:t>
            </a:r>
            <a:r>
              <a:rPr lang="en-US" altLang="zh-CN" sz="2400" b="1" dirty="0">
                <a:solidFill>
                  <a:srgbClr val="000099"/>
                </a:solidFill>
              </a:rPr>
              <a:t>1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000099"/>
                </a:solidFill>
              </a:rPr>
              <a:t>循环</a:t>
            </a:r>
            <a:r>
              <a:rPr lang="en-US" altLang="zh-CN" sz="2400" b="1" dirty="0">
                <a:solidFill>
                  <a:srgbClr val="000099"/>
                </a:solidFill>
              </a:rPr>
              <a:t>n</a:t>
            </a:r>
            <a:r>
              <a:rPr lang="zh-CN" altLang="en-US" sz="2400" b="1" dirty="0">
                <a:solidFill>
                  <a:srgbClr val="000099"/>
                </a:solidFill>
              </a:rPr>
              <a:t>次后，</a:t>
            </a:r>
            <a:r>
              <a:rPr lang="en-US" altLang="zh-CN" sz="2400" b="1" dirty="0">
                <a:solidFill>
                  <a:srgbClr val="000099"/>
                </a:solidFill>
              </a:rPr>
              <a:t>n = 0</a:t>
            </a:r>
            <a:r>
              <a:rPr lang="zh-CN" altLang="en-US" sz="2400" b="1" dirty="0">
                <a:solidFill>
                  <a:srgbClr val="000099"/>
                </a:solidFill>
              </a:rPr>
              <a:t>，</a:t>
            </a:r>
            <a:endParaRPr lang="en-US" altLang="zh-CN" sz="2400" b="1" dirty="0">
              <a:solidFill>
                <a:srgbClr val="000099"/>
              </a:solidFill>
            </a:endParaRPr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                    y  =  2</a:t>
            </a:r>
            <a:r>
              <a:rPr lang="en-US" altLang="zh-CN" sz="2400" b="1" baseline="30000" dirty="0">
                <a:solidFill>
                  <a:srgbClr val="000099"/>
                </a:solidFill>
              </a:rPr>
              <a:t>n</a:t>
            </a:r>
            <a:r>
              <a:rPr lang="en-US" altLang="zh-CN" sz="2400" b="1" dirty="0">
                <a:solidFill>
                  <a:srgbClr val="000099"/>
                </a:solidFill>
              </a:rPr>
              <a:t>  = 2</a:t>
            </a:r>
            <a:r>
              <a:rPr lang="en-US" altLang="zh-CN" sz="2400" b="1" baseline="30000" dirty="0">
                <a:solidFill>
                  <a:srgbClr val="000099"/>
                </a:solidFill>
              </a:rPr>
              <a:t>0</a:t>
            </a:r>
            <a:r>
              <a:rPr lang="en-US" altLang="zh-CN" sz="2400" b="1" dirty="0">
                <a:solidFill>
                  <a:srgbClr val="000099"/>
                </a:solidFill>
              </a:rPr>
              <a:t>  = 1</a:t>
            </a:r>
          </a:p>
          <a:p>
            <a:pPr eaLnBrk="1" hangingPunct="1">
              <a:lnSpc>
                <a:spcPct val="150000"/>
              </a:lnSpc>
              <a:buNone/>
            </a:pPr>
            <a:endParaRPr lang="en-US" altLang="zh-CN" sz="2400" b="1" dirty="0">
              <a:solidFill>
                <a:srgbClr val="000099"/>
              </a:solidFill>
            </a:endParaRPr>
          </a:p>
          <a:p>
            <a:pPr marL="0" indent="0" eaLnBrk="1" hangingPunct="1">
              <a:lnSpc>
                <a:spcPct val="150000"/>
              </a:lnSpc>
              <a:buNone/>
            </a:pPr>
            <a:r>
              <a:rPr lang="zh-CN" altLang="en-US" sz="2400" b="1" dirty="0">
                <a:solidFill>
                  <a:srgbClr val="000099"/>
                </a:solidFill>
              </a:rPr>
              <a:t>接下来，扩展到任意</a:t>
            </a:r>
            <a:r>
              <a:rPr lang="en-US" altLang="zh-CN" sz="2400" b="1" dirty="0">
                <a:solidFill>
                  <a:srgbClr val="000099"/>
                </a:solidFill>
              </a:rPr>
              <a:t>y</a:t>
            </a:r>
            <a:r>
              <a:rPr lang="zh-CN" altLang="en-US" sz="2400" b="1" dirty="0">
                <a:solidFill>
                  <a:srgbClr val="000099"/>
                </a:solidFill>
              </a:rPr>
              <a:t>，看能否找到反例？</a:t>
            </a:r>
          </a:p>
        </p:txBody>
      </p:sp>
    </p:spTree>
    <p:extLst>
      <p:ext uri="{BB962C8B-B14F-4D97-AF65-F5344CB8AC3E}">
        <p14:creationId xmlns:p14="http://schemas.microsoft.com/office/powerpoint/2010/main" val="3629216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46BC5C8-C770-46BD-8AE6-F21DB8B5658A}" type="datetime1">
              <a:rPr lang="zh-CN" altLang="en-US"/>
              <a:pPr>
                <a:defRPr/>
              </a:pPr>
              <a:t>2026/3/4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919169-5CBF-4193-8BA4-AF3F89905ACA}" type="slidenum">
              <a:rPr lang="en-US" altLang="zh-CN"/>
              <a:pPr>
                <a:defRPr/>
              </a:pPr>
              <a:t>14</a:t>
            </a:fld>
            <a:endParaRPr lang="en-US" altLang="zh-CN"/>
          </a:p>
        </p:txBody>
      </p:sp>
      <p:sp>
        <p:nvSpPr>
          <p:cNvPr id="102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000099"/>
                </a:solidFill>
                <a:ea typeface="华文细黑" panose="02010600040101010101" pitchFamily="2" charset="-122"/>
              </a:rPr>
              <a:t>反例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066800"/>
            <a:ext cx="3505200" cy="4450449"/>
          </a:xfrm>
          <a:noFill/>
        </p:spPr>
        <p:txBody>
          <a:bodyPr wrap="square">
            <a:spAutoFit/>
          </a:bodyPr>
          <a:lstStyle/>
          <a:p>
            <a:pPr eaLnBrk="1" hangingPunct="1"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--&gt; f(2,3);</a:t>
            </a:r>
          </a:p>
          <a:p>
            <a:pPr eaLnBrk="1" hangingPunct="1"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8 (</a:t>
            </a:r>
            <a:r>
              <a:rPr lang="en-US" altLang="zh-CN" sz="2400" b="1" dirty="0" err="1">
                <a:solidFill>
                  <a:schemeClr val="tx2"/>
                </a:solidFill>
              </a:rPr>
              <a:t>int</a:t>
            </a:r>
            <a:r>
              <a:rPr lang="en-US" altLang="zh-CN" sz="2400" b="1" dirty="0">
                <a:solidFill>
                  <a:schemeClr val="tx2"/>
                </a:solidFill>
              </a:rPr>
              <a:t>)</a:t>
            </a:r>
          </a:p>
          <a:p>
            <a:pPr eaLnBrk="1" hangingPunct="1"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--&gt; f(-2,3);</a:t>
            </a:r>
          </a:p>
          <a:p>
            <a:pPr eaLnBrk="1" hangingPunct="1"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-8 (</a:t>
            </a:r>
            <a:r>
              <a:rPr lang="en-US" altLang="zh-CN" sz="2400" b="1" dirty="0" err="1">
                <a:solidFill>
                  <a:schemeClr val="tx2"/>
                </a:solidFill>
              </a:rPr>
              <a:t>int</a:t>
            </a:r>
            <a:r>
              <a:rPr lang="en-US" altLang="zh-CN" sz="2400" b="1" dirty="0">
                <a:solidFill>
                  <a:schemeClr val="tx2"/>
                </a:solidFill>
              </a:rPr>
              <a:t>)</a:t>
            </a:r>
          </a:p>
          <a:p>
            <a:pPr eaLnBrk="1" hangingPunct="1"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--&gt; f(2,1);</a:t>
            </a:r>
          </a:p>
          <a:p>
            <a:pPr eaLnBrk="1" hangingPunct="1"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2 (</a:t>
            </a:r>
            <a:r>
              <a:rPr lang="en-US" altLang="zh-CN" sz="2400" b="1" dirty="0" err="1">
                <a:solidFill>
                  <a:schemeClr val="tx2"/>
                </a:solidFill>
              </a:rPr>
              <a:t>int</a:t>
            </a:r>
            <a:r>
              <a:rPr lang="en-US" altLang="zh-CN" sz="2400" b="1" dirty="0">
                <a:solidFill>
                  <a:schemeClr val="tx2"/>
                </a:solidFill>
              </a:rPr>
              <a:t>)</a:t>
            </a:r>
          </a:p>
          <a:p>
            <a:pPr eaLnBrk="1" hangingPunct="1"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--&gt;</a:t>
            </a:r>
          </a:p>
          <a:p>
            <a:pPr eaLnBrk="1" hangingPunct="1">
              <a:buNone/>
            </a:pPr>
            <a:endParaRPr lang="en-US" altLang="zh-CN" sz="2400" b="1" dirty="0">
              <a:solidFill>
                <a:schemeClr val="tx2"/>
              </a:solidFill>
            </a:endParaRPr>
          </a:p>
          <a:p>
            <a:pPr eaLnBrk="1" hangingPunct="1"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0</a:t>
            </a:r>
            <a:r>
              <a:rPr lang="zh-CN" altLang="en-US" sz="2400" b="1" dirty="0">
                <a:solidFill>
                  <a:schemeClr val="tx2"/>
                </a:solidFill>
              </a:rPr>
              <a:t>又是怎么样的呢？</a:t>
            </a:r>
            <a:endParaRPr lang="en-US" altLang="zh-CN" sz="2400" b="1" dirty="0">
              <a:solidFill>
                <a:schemeClr val="tx2"/>
              </a:solidFill>
            </a:endParaRPr>
          </a:p>
          <a:p>
            <a:pPr eaLnBrk="1" hangingPunct="1"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或者负指数呢？</a:t>
            </a:r>
            <a:endParaRPr lang="en-US" altLang="zh-CN" sz="2400" b="1" dirty="0">
              <a:solidFill>
                <a:schemeClr val="tx2"/>
              </a:solidFill>
            </a:endParaRPr>
          </a:p>
        </p:txBody>
      </p:sp>
      <p:sp>
        <p:nvSpPr>
          <p:cNvPr id="1024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endParaRPr lang="zh-CN" altLang="en-US" sz="1800">
              <a:solidFill>
                <a:srgbClr val="000099"/>
              </a:solidFill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5334000" y="1066800"/>
            <a:ext cx="2743200" cy="22344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None/>
            </a:pPr>
            <a:r>
              <a:rPr lang="en-US" altLang="zh-CN" sz="2400" dirty="0">
                <a:solidFill>
                  <a:schemeClr val="tx2"/>
                </a:solidFill>
              </a:rPr>
              <a:t>--&gt; f(2,0);</a:t>
            </a:r>
          </a:p>
          <a:p>
            <a:pPr eaLnBrk="1" hangingPunct="1">
              <a:buNone/>
            </a:pPr>
            <a:r>
              <a:rPr lang="en-US" altLang="zh-CN" sz="2400" dirty="0">
                <a:solidFill>
                  <a:schemeClr val="tx2"/>
                </a:solidFill>
              </a:rPr>
              <a:t>2 (</a:t>
            </a:r>
            <a:r>
              <a:rPr lang="en-US" altLang="zh-CN" sz="2400" dirty="0" err="1">
                <a:solidFill>
                  <a:schemeClr val="tx2"/>
                </a:solidFill>
              </a:rPr>
              <a:t>int</a:t>
            </a:r>
            <a:r>
              <a:rPr lang="en-US" altLang="zh-CN" sz="2400" dirty="0">
                <a:solidFill>
                  <a:schemeClr val="tx2"/>
                </a:solidFill>
              </a:rPr>
              <a:t>)</a:t>
            </a:r>
          </a:p>
          <a:p>
            <a:pPr eaLnBrk="1" hangingPunct="1">
              <a:buNone/>
            </a:pPr>
            <a:r>
              <a:rPr lang="en-US" altLang="zh-CN" sz="2400" dirty="0">
                <a:solidFill>
                  <a:schemeClr val="tx2"/>
                </a:solidFill>
              </a:rPr>
              <a:t>--&gt; f(2,-1);</a:t>
            </a:r>
          </a:p>
          <a:p>
            <a:pPr eaLnBrk="1" hangingPunct="1">
              <a:buNone/>
            </a:pPr>
            <a:r>
              <a:rPr lang="en-US" altLang="zh-CN" sz="2400" dirty="0">
                <a:solidFill>
                  <a:schemeClr val="tx2"/>
                </a:solidFill>
              </a:rPr>
              <a:t>2 (</a:t>
            </a:r>
            <a:r>
              <a:rPr lang="en-US" altLang="zh-CN" sz="2400" dirty="0" err="1">
                <a:solidFill>
                  <a:schemeClr val="tx2"/>
                </a:solidFill>
              </a:rPr>
              <a:t>int</a:t>
            </a:r>
            <a:r>
              <a:rPr lang="en-US" altLang="zh-CN" sz="2400" dirty="0">
                <a:solidFill>
                  <a:schemeClr val="tx2"/>
                </a:solidFill>
              </a:rPr>
              <a:t>)</a:t>
            </a:r>
          </a:p>
          <a:p>
            <a:pPr eaLnBrk="1" hangingPunct="1">
              <a:buNone/>
            </a:pPr>
            <a:r>
              <a:rPr lang="en-US" altLang="zh-CN" sz="2400" dirty="0">
                <a:solidFill>
                  <a:schemeClr val="tx2"/>
                </a:solidFill>
              </a:rPr>
              <a:t>--&gt;</a:t>
            </a:r>
            <a:endParaRPr lang="en-US" altLang="zh-CN" sz="2400"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8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81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46BC5C8-C770-46BD-8AE6-F21DB8B5658A}" type="datetime1">
              <a:rPr lang="zh-CN" altLang="en-US"/>
              <a:pPr>
                <a:defRPr/>
              </a:pPr>
              <a:t>2026/3/4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919169-5CBF-4193-8BA4-AF3F89905ACA}" type="slidenum">
              <a:rPr lang="en-US" altLang="zh-CN"/>
              <a:pPr>
                <a:defRPr/>
              </a:pPr>
              <a:t>15</a:t>
            </a:fld>
            <a:endParaRPr lang="en-US" altLang="zh-CN"/>
          </a:p>
        </p:txBody>
      </p:sp>
      <p:sp>
        <p:nvSpPr>
          <p:cNvPr id="102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000099"/>
                </a:solidFill>
                <a:ea typeface="华文细黑" panose="02010600040101010101" pitchFamily="2" charset="-122"/>
              </a:rPr>
              <a:t>强加一个前提条件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066800"/>
            <a:ext cx="8153400" cy="5262979"/>
          </a:xfrm>
          <a:noFill/>
        </p:spPr>
        <p:txBody>
          <a:bodyPr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需加前提条件：函数的</a:t>
            </a:r>
            <a:r>
              <a:rPr lang="zh-CN" altLang="en-US" sz="2400" b="1" dirty="0">
                <a:solidFill>
                  <a:srgbClr val="FF0000"/>
                </a:solidFill>
              </a:rPr>
              <a:t>前置条件</a:t>
            </a:r>
            <a:r>
              <a:rPr lang="zh-CN" altLang="en-US" sz="2400" b="1" dirty="0">
                <a:solidFill>
                  <a:schemeClr val="tx2"/>
                </a:solidFill>
              </a:rPr>
              <a:t>  </a:t>
            </a:r>
            <a:r>
              <a:rPr lang="en-US" altLang="zh-CN" sz="2400" b="1" dirty="0">
                <a:solidFill>
                  <a:srgbClr val="FF0000"/>
                </a:solidFill>
              </a:rPr>
              <a:t>//@requires e;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 err="1">
                <a:solidFill>
                  <a:schemeClr val="tx2"/>
                </a:solidFill>
              </a:rPr>
              <a:t>int</a:t>
            </a:r>
            <a:r>
              <a:rPr lang="en-US" altLang="zh-CN" sz="2400" b="1" dirty="0">
                <a:solidFill>
                  <a:schemeClr val="tx2"/>
                </a:solidFill>
              </a:rPr>
              <a:t> f (</a:t>
            </a:r>
            <a:r>
              <a:rPr lang="en-US" altLang="zh-CN" sz="2400" b="1" dirty="0" err="1">
                <a:solidFill>
                  <a:schemeClr val="tx2"/>
                </a:solidFill>
              </a:rPr>
              <a:t>int</a:t>
            </a:r>
            <a:r>
              <a:rPr lang="en-US" altLang="zh-CN" sz="2400" b="1" dirty="0">
                <a:solidFill>
                  <a:schemeClr val="tx2"/>
                </a:solidFill>
              </a:rPr>
              <a:t> x, </a:t>
            </a:r>
            <a:r>
              <a:rPr lang="en-US" altLang="zh-CN" sz="2400" b="1" dirty="0" err="1">
                <a:solidFill>
                  <a:schemeClr val="tx2"/>
                </a:solidFill>
              </a:rPr>
              <a:t>int</a:t>
            </a:r>
            <a:r>
              <a:rPr lang="en-US" altLang="zh-CN" sz="2400" b="1" dirty="0">
                <a:solidFill>
                  <a:schemeClr val="tx2"/>
                </a:solidFill>
              </a:rPr>
              <a:t> y)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//@requires y &gt;= 0;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{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    </a:t>
            </a:r>
            <a:r>
              <a:rPr lang="en-US" altLang="zh-CN" sz="2400" b="1" dirty="0" err="1">
                <a:solidFill>
                  <a:schemeClr val="tx2"/>
                </a:solidFill>
              </a:rPr>
              <a:t>int</a:t>
            </a:r>
            <a:r>
              <a:rPr lang="en-US" altLang="zh-CN" sz="2400" b="1" dirty="0">
                <a:solidFill>
                  <a:schemeClr val="tx2"/>
                </a:solidFill>
              </a:rPr>
              <a:t> r = 1;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    while (y &gt; 1) {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        if (y % 2 == 1) {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            r = x * r;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        }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        x = x * x;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        y = y / 2;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    }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    return r * x;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}</a:t>
            </a:r>
          </a:p>
        </p:txBody>
      </p:sp>
      <p:sp>
        <p:nvSpPr>
          <p:cNvPr id="1024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endParaRPr lang="zh-CN" altLang="en-US" sz="1800">
              <a:solidFill>
                <a:srgbClr val="000099"/>
              </a:solidFill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4606870" y="1828800"/>
            <a:ext cx="3851330" cy="31947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1" hangingPunct="1">
              <a:buNone/>
            </a:pPr>
            <a:r>
              <a:rPr lang="zh-CN" altLang="en-US" sz="2400" dirty="0">
                <a:solidFill>
                  <a:schemeClr val="tx2"/>
                </a:solidFill>
              </a:rPr>
              <a:t>任何时候调用这个函数所需满足的条件，本例中，函数前置条件是，第二个参数必须非负。</a:t>
            </a:r>
            <a:endParaRPr lang="en-US" altLang="zh-CN" sz="2400" dirty="0">
              <a:solidFill>
                <a:schemeClr val="tx2"/>
              </a:solidFill>
            </a:endParaRPr>
          </a:p>
          <a:p>
            <a:pPr marL="0" indent="0" algn="just" eaLnBrk="1" hangingPunct="1">
              <a:buNone/>
            </a:pPr>
            <a:endParaRPr lang="en-US" altLang="zh-CN" sz="2400" b="1" dirty="0">
              <a:solidFill>
                <a:schemeClr val="tx2"/>
              </a:solidFill>
            </a:endParaRPr>
          </a:p>
          <a:p>
            <a:pPr marL="0" indent="0" algn="just" eaLnBrk="1" hangingPunct="1">
              <a:buNone/>
            </a:pPr>
            <a:r>
              <a:rPr lang="en-US" altLang="zh-CN" sz="2400" dirty="0">
                <a:solidFill>
                  <a:schemeClr val="tx2"/>
                </a:solidFill>
              </a:rPr>
              <a:t>f</a:t>
            </a:r>
            <a:r>
              <a:rPr lang="zh-CN" altLang="en-US" sz="2400" dirty="0">
                <a:solidFill>
                  <a:schemeClr val="tx2"/>
                </a:solidFill>
              </a:rPr>
              <a:t>的功能是什么？我们知道它是计算指数函数的，这应该被正式地表达出来。</a:t>
            </a:r>
            <a:endParaRPr lang="en-US" altLang="zh-CN" sz="24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3771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48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481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481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81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4813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4813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0A7AE13B-107C-4E9E-B864-42A53E6E147C}" type="datetime1">
              <a:rPr lang="zh-CN" altLang="en-US"/>
              <a:pPr>
                <a:defRPr/>
              </a:pPr>
              <a:t>2026/3/4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6DBD6-9622-4D66-8023-B4F02B423612}" type="slidenum">
              <a:rPr lang="en-US" altLang="zh-CN"/>
              <a:pPr>
                <a:defRPr/>
              </a:pPr>
              <a:t>16</a:t>
            </a:fld>
            <a:endParaRPr lang="en-US" altLang="zh-CN"/>
          </a:p>
        </p:txBody>
      </p:sp>
      <p:sp>
        <p:nvSpPr>
          <p:cNvPr id="112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000099"/>
                </a:solidFill>
                <a:ea typeface="华文细黑" panose="02010600040101010101" pitchFamily="2" charset="-122"/>
              </a:rPr>
              <a:t>制定一个后置条件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066800"/>
            <a:ext cx="8153400" cy="4437063"/>
          </a:xfrm>
          <a:noFill/>
        </p:spPr>
        <p:txBody>
          <a:bodyPr>
            <a:spAutoFit/>
          </a:bodyPr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chemeClr val="tx2"/>
                </a:solidFill>
              </a:rPr>
              <a:t>函数的</a:t>
            </a:r>
            <a:r>
              <a:rPr lang="zh-CN" altLang="en-US" sz="2400" b="1">
                <a:solidFill>
                  <a:srgbClr val="FF0000"/>
                </a:solidFill>
              </a:rPr>
              <a:t>后置条件</a:t>
            </a:r>
            <a:r>
              <a:rPr lang="zh-CN" altLang="en-US" sz="2400" b="1">
                <a:solidFill>
                  <a:schemeClr val="tx2"/>
                </a:solidFill>
              </a:rPr>
              <a:t>  </a:t>
            </a:r>
            <a:r>
              <a:rPr lang="en-US" altLang="zh-CN" sz="2400" b="1">
                <a:solidFill>
                  <a:srgbClr val="FF0000"/>
                </a:solidFill>
              </a:rPr>
              <a:t>//@ensures e;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chemeClr val="tx2"/>
                </a:solidFill>
              </a:rPr>
              <a:t>先构造一个幂函数 </a:t>
            </a:r>
            <a:r>
              <a:rPr lang="en-US" altLang="zh-CN" sz="2400" b="1">
                <a:solidFill>
                  <a:schemeClr val="tx2"/>
                </a:solidFill>
              </a:rPr>
              <a:t>POW (int x, int y)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400" b="1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>
                <a:solidFill>
                  <a:schemeClr val="tx2"/>
                </a:solidFill>
              </a:rPr>
              <a:t>int POW (int x, int y)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>
                <a:solidFill>
                  <a:schemeClr val="tx2"/>
                </a:solidFill>
              </a:rPr>
              <a:t>//@requires y &gt;= 0;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>
                <a:solidFill>
                  <a:schemeClr val="tx2"/>
                </a:solidFill>
              </a:rPr>
              <a:t>{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>
                <a:solidFill>
                  <a:schemeClr val="tx2"/>
                </a:solidFill>
              </a:rPr>
              <a:t>    if (y == 0)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>
                <a:solidFill>
                  <a:schemeClr val="tx2"/>
                </a:solidFill>
              </a:rPr>
              <a:t>        return 1;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>
                <a:solidFill>
                  <a:schemeClr val="tx2"/>
                </a:solidFill>
              </a:rPr>
              <a:t>    else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>
                <a:solidFill>
                  <a:schemeClr val="tx2"/>
                </a:solidFill>
              </a:rPr>
              <a:t>        return x * POW(x, y-1);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>
                <a:solidFill>
                  <a:schemeClr val="tx2"/>
                </a:solidFill>
              </a:rPr>
              <a:t>}</a:t>
            </a:r>
          </a:p>
        </p:txBody>
      </p:sp>
      <p:sp>
        <p:nvSpPr>
          <p:cNvPr id="11271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endParaRPr lang="zh-CN" altLang="en-US" sz="1800">
              <a:solidFill>
                <a:srgbClr val="00009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9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9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9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49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91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91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491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1EFAFBB-684B-4B72-B0DF-4AF2982BBE3B}" type="datetime1">
              <a:rPr lang="zh-CN" altLang="en-US"/>
              <a:pPr>
                <a:defRPr/>
              </a:pPr>
              <a:t>2026/3/4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A657AA-EA34-4A4D-9298-EE6B5C4540D3}" type="slidenum">
              <a:rPr lang="en-US" altLang="zh-CN"/>
              <a:pPr>
                <a:defRPr/>
              </a:pPr>
              <a:t>17</a:t>
            </a:fld>
            <a:endParaRPr lang="en-US" altLang="zh-CN"/>
          </a:p>
        </p:txBody>
      </p:sp>
      <p:sp>
        <p:nvSpPr>
          <p:cNvPr id="122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800" b="1">
                <a:solidFill>
                  <a:srgbClr val="000099"/>
                </a:solidFill>
                <a:ea typeface="华文细黑" panose="02010600040101010101" pitchFamily="2" charset="-122"/>
              </a:rPr>
              <a:t>后置条件</a:t>
            </a:r>
            <a:r>
              <a:rPr lang="zh-CN" altLang="en-US" sz="2400" b="1">
                <a:solidFill>
                  <a:srgbClr val="000099"/>
                </a:solidFill>
                <a:ea typeface="华文细黑" panose="02010600040101010101" pitchFamily="2" charset="-122"/>
              </a:rPr>
              <a:t>：</a:t>
            </a:r>
            <a:r>
              <a:rPr lang="zh-CN" altLang="en-US" sz="2400" b="1"/>
              <a:t>用一个特殊变量</a:t>
            </a:r>
            <a:r>
              <a:rPr lang="en-US" altLang="zh-CN" sz="2400" b="1"/>
              <a:t>\result</a:t>
            </a:r>
            <a:r>
              <a:rPr lang="zh-CN" altLang="en-US" sz="2400" b="1"/>
              <a:t>来表示函数的返回值</a:t>
            </a:r>
          </a:p>
        </p:txBody>
      </p:sp>
      <p:sp>
        <p:nvSpPr>
          <p:cNvPr id="1229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066800"/>
            <a:ext cx="8153400" cy="5130800"/>
          </a:xfrm>
          <a:noFill/>
        </p:spPr>
        <p:txBody>
          <a:bodyPr>
            <a:spAutoFit/>
          </a:bodyPr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/>
              <a:t>int f (int x, int y)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/>
              <a:t>// @requires y &gt;= 0;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>
                <a:solidFill>
                  <a:srgbClr val="FF0000"/>
                </a:solidFill>
              </a:rPr>
              <a:t>// @ensures \result == POW(x, y);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/>
              <a:t>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/>
              <a:t>    int r = 1;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/>
              <a:t>    while (y &gt; 1) 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/>
              <a:t>        if (y % 2 == 1) 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/>
              <a:t>            r = x * r;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/>
              <a:t>        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/>
              <a:t>        x = x * x;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/>
              <a:t>        y = y / 2;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/>
              <a:t>    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/>
              <a:t>    return r * x;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/>
              <a:t>}</a:t>
            </a:r>
          </a:p>
        </p:txBody>
      </p:sp>
      <p:sp>
        <p:nvSpPr>
          <p:cNvPr id="1229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endParaRPr lang="zh-CN" altLang="en-US" sz="1800">
              <a:solidFill>
                <a:srgbClr val="000099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1EFAFBB-684B-4B72-B0DF-4AF2982BBE3B}" type="datetime1">
              <a:rPr lang="zh-CN" altLang="en-US"/>
              <a:pPr>
                <a:defRPr/>
              </a:pPr>
              <a:t>2026/3/4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A657AA-EA34-4A4D-9298-EE6B5C4540D3}" type="slidenum">
              <a:rPr lang="en-US" altLang="zh-CN"/>
              <a:pPr>
                <a:defRPr/>
              </a:pPr>
              <a:t>18</a:t>
            </a:fld>
            <a:endParaRPr lang="en-US" altLang="zh-CN"/>
          </a:p>
        </p:txBody>
      </p:sp>
      <p:sp>
        <p:nvSpPr>
          <p:cNvPr id="122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800" b="1" dirty="0">
                <a:solidFill>
                  <a:srgbClr val="000099"/>
                </a:solidFill>
                <a:ea typeface="华文细黑" panose="02010600040101010101" pitchFamily="2" charset="-122"/>
              </a:rPr>
              <a:t>动态检查约定</a:t>
            </a:r>
            <a:endParaRPr lang="zh-CN" altLang="en-US" sz="2400" b="1" dirty="0"/>
          </a:p>
        </p:txBody>
      </p:sp>
      <p:sp>
        <p:nvSpPr>
          <p:cNvPr id="1229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066800"/>
            <a:ext cx="8153400" cy="4524315"/>
          </a:xfrm>
          <a:noFill/>
        </p:spPr>
        <p:txBody>
          <a:bodyPr>
            <a:spAutoFit/>
          </a:bodyPr>
          <a:lstStyle/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b="1" dirty="0"/>
              <a:t>% coin   solution2a.c0   -d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b="1" dirty="0"/>
              <a:t>foo.c0:10.5-10.6:error:cannot assign to variable 'x'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b="1" dirty="0"/>
              <a:t>used in @ensures annotation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b="1" dirty="0"/>
              <a:t>          x = x * x;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b="1" dirty="0"/>
              <a:t>          ~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b="1" dirty="0"/>
              <a:t>Unable to load files, exiting...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b="1" dirty="0"/>
              <a:t>%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400" b="1" dirty="0">
                <a:solidFill>
                  <a:srgbClr val="FF0000"/>
                </a:solidFill>
              </a:rPr>
              <a:t>后置条件引用了</a:t>
            </a:r>
            <a:r>
              <a:rPr lang="en-US" altLang="zh-CN" sz="2400" b="1" dirty="0">
                <a:solidFill>
                  <a:srgbClr val="FF0000"/>
                </a:solidFill>
              </a:rPr>
              <a:t>x</a:t>
            </a:r>
            <a:r>
              <a:rPr lang="zh-CN" altLang="en-US" sz="2400" b="1" dirty="0">
                <a:solidFill>
                  <a:srgbClr val="FF0000"/>
                </a:solidFill>
              </a:rPr>
              <a:t>时，代码中不允许改变</a:t>
            </a:r>
            <a:r>
              <a:rPr lang="en-US" altLang="zh-CN" sz="2400" b="1" dirty="0">
                <a:solidFill>
                  <a:srgbClr val="FF0000"/>
                </a:solidFill>
              </a:rPr>
              <a:t>x</a:t>
            </a:r>
            <a:r>
              <a:rPr lang="zh-CN" altLang="en-US" sz="2400" b="1" dirty="0">
                <a:solidFill>
                  <a:srgbClr val="FF0000"/>
                </a:solidFill>
              </a:rPr>
              <a:t>的值！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80000"/>
              </a:lnSpc>
              <a:buNone/>
            </a:pPr>
            <a:endParaRPr lang="en-US" altLang="zh-CN" sz="2400" b="1" dirty="0">
              <a:solidFill>
                <a:srgbClr val="FF0000"/>
              </a:solidFill>
            </a:endParaRPr>
          </a:p>
          <a:p>
            <a:pPr marL="0" indent="0" eaLnBrk="1" hangingPunct="1">
              <a:lnSpc>
                <a:spcPct val="150000"/>
              </a:lnSpc>
              <a:buNone/>
            </a:pPr>
            <a:r>
              <a:rPr lang="zh-CN" altLang="en-US" sz="2400" b="1" dirty="0">
                <a:solidFill>
                  <a:srgbClr val="000099"/>
                </a:solidFill>
              </a:rPr>
              <a:t>添加辅助变量</a:t>
            </a:r>
            <a:r>
              <a:rPr lang="en-US" altLang="zh-CN" sz="2400" b="1" dirty="0">
                <a:solidFill>
                  <a:srgbClr val="000099"/>
                </a:solidFill>
              </a:rPr>
              <a:t>b</a:t>
            </a:r>
            <a:r>
              <a:rPr lang="zh-CN" altLang="en-US" sz="2400" b="1" dirty="0">
                <a:solidFill>
                  <a:srgbClr val="000099"/>
                </a:solidFill>
              </a:rPr>
              <a:t>（作为基）和</a:t>
            </a:r>
            <a:r>
              <a:rPr lang="en-US" altLang="zh-CN" sz="2400" b="1" dirty="0">
                <a:solidFill>
                  <a:srgbClr val="000099"/>
                </a:solidFill>
              </a:rPr>
              <a:t>e</a:t>
            </a:r>
            <a:r>
              <a:rPr lang="zh-CN" altLang="en-US" sz="2400" b="1" dirty="0">
                <a:solidFill>
                  <a:srgbClr val="000099"/>
                </a:solidFill>
              </a:rPr>
              <a:t>（作为指数）来代替</a:t>
            </a:r>
            <a:r>
              <a:rPr lang="en-US" altLang="zh-CN" sz="2400" b="1" dirty="0">
                <a:solidFill>
                  <a:srgbClr val="000099"/>
                </a:solidFill>
              </a:rPr>
              <a:t>x</a:t>
            </a:r>
            <a:r>
              <a:rPr lang="zh-CN" altLang="en-US" sz="2400" b="1" dirty="0">
                <a:solidFill>
                  <a:srgbClr val="000099"/>
                </a:solidFill>
              </a:rPr>
              <a:t>和</a:t>
            </a:r>
            <a:r>
              <a:rPr lang="en-US" altLang="zh-CN" sz="2400" b="1" dirty="0">
                <a:solidFill>
                  <a:srgbClr val="000099"/>
                </a:solidFill>
              </a:rPr>
              <a:t>y</a:t>
            </a:r>
            <a:r>
              <a:rPr lang="zh-CN" altLang="en-US" sz="2400" b="1" dirty="0">
                <a:solidFill>
                  <a:srgbClr val="000099"/>
                </a:solidFill>
              </a:rPr>
              <a:t>，这样我们就让</a:t>
            </a:r>
            <a:r>
              <a:rPr lang="en-US" altLang="zh-CN" sz="2400" b="1" dirty="0">
                <a:solidFill>
                  <a:srgbClr val="000099"/>
                </a:solidFill>
              </a:rPr>
              <a:t>x</a:t>
            </a:r>
            <a:r>
              <a:rPr lang="zh-CN" altLang="en-US" sz="2400" b="1" dirty="0">
                <a:solidFill>
                  <a:srgbClr val="000099"/>
                </a:solidFill>
              </a:rPr>
              <a:t>和</a:t>
            </a:r>
            <a:r>
              <a:rPr lang="en-US" altLang="zh-CN" sz="2400" b="1" dirty="0">
                <a:solidFill>
                  <a:srgbClr val="000099"/>
                </a:solidFill>
              </a:rPr>
              <a:t>y</a:t>
            </a:r>
            <a:r>
              <a:rPr lang="zh-CN" altLang="en-US" sz="2400" b="1" dirty="0">
                <a:solidFill>
                  <a:srgbClr val="000099"/>
                </a:solidFill>
              </a:rPr>
              <a:t>保持不变了。</a:t>
            </a:r>
            <a:endParaRPr lang="en-US" altLang="zh-CN" sz="2400" b="1" dirty="0">
              <a:solidFill>
                <a:srgbClr val="000099"/>
              </a:solidFill>
            </a:endParaRPr>
          </a:p>
        </p:txBody>
      </p:sp>
      <p:sp>
        <p:nvSpPr>
          <p:cNvPr id="1229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endParaRPr lang="zh-CN" altLang="en-US" sz="1800">
              <a:solidFill>
                <a:srgbClr val="0000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6568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182A1184-5A4A-4A4C-B7A0-8871A687233C}" type="datetime1">
              <a:rPr lang="zh-CN" altLang="en-US"/>
              <a:pPr>
                <a:defRPr/>
              </a:pPr>
              <a:t>2026/3/4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889CB8-3616-4BEB-B2B8-9A66E5273231}" type="slidenum">
              <a:rPr lang="en-US" altLang="zh-CN"/>
              <a:pPr>
                <a:defRPr/>
              </a:pPr>
              <a:t>19</a:t>
            </a:fld>
            <a:endParaRPr lang="en-US" altLang="zh-CN"/>
          </a:p>
        </p:txBody>
      </p:sp>
      <p:sp>
        <p:nvSpPr>
          <p:cNvPr id="133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400" b="1" dirty="0">
                <a:solidFill>
                  <a:srgbClr val="000099"/>
                </a:solidFill>
                <a:ea typeface="华文细黑" panose="02010600040101010101" pitchFamily="2" charset="-122"/>
              </a:rPr>
              <a:t>动态检查约定</a:t>
            </a:r>
            <a:r>
              <a:rPr lang="zh-CN" altLang="en-US" sz="2800" b="1" dirty="0">
                <a:solidFill>
                  <a:srgbClr val="000099"/>
                </a:solidFill>
                <a:ea typeface="华文细黑" panose="02010600040101010101" pitchFamily="2" charset="-122"/>
              </a:rPr>
              <a:t>：换变量名</a:t>
            </a:r>
            <a:endParaRPr lang="zh-CN" altLang="en-US" sz="2800" b="1" dirty="0"/>
          </a:p>
        </p:txBody>
      </p:sp>
      <p:sp>
        <p:nvSpPr>
          <p:cNvPr id="1331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066800"/>
            <a:ext cx="8153400" cy="5384800"/>
          </a:xfrm>
          <a:noFill/>
        </p:spPr>
        <p:txBody>
          <a:bodyPr>
            <a:spAutoFit/>
          </a:bodyPr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/>
              <a:t>int f (int x, int y)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/>
              <a:t>// @requires y &gt;= 0;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/>
              <a:t>// @ensures \result == POW(x,y);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/>
              <a:t>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/>
              <a:t>    int r = 1;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/>
              <a:t>    </a:t>
            </a:r>
            <a:r>
              <a:rPr lang="en-US" altLang="zh-CN" sz="2200" b="1">
                <a:solidFill>
                  <a:srgbClr val="FF0000"/>
                </a:solidFill>
              </a:rPr>
              <a:t>int b = x; /* base */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>
                <a:solidFill>
                  <a:srgbClr val="FF0000"/>
                </a:solidFill>
              </a:rPr>
              <a:t>    int e = y; /* exponent */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/>
              <a:t>    while (e &gt; 1) 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/>
              <a:t>        if (e % 2 == 1) 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/>
              <a:t>            r = b * r;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/>
              <a:t>        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/>
              <a:t>        b = b * b;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/>
              <a:t>        e = e / 2;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/>
              <a:t>    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/>
              <a:t>    return r * b;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/>
              <a:t>}</a:t>
            </a:r>
          </a:p>
        </p:txBody>
      </p:sp>
      <p:sp>
        <p:nvSpPr>
          <p:cNvPr id="13319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endParaRPr lang="zh-CN" altLang="en-US" sz="1800">
              <a:solidFill>
                <a:srgbClr val="000099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182A1184-5A4A-4A4C-B7A0-8871A687233C}" type="datetime1">
              <a:rPr lang="zh-CN" altLang="en-US"/>
              <a:pPr>
                <a:defRPr/>
              </a:pPr>
              <a:t>2026/3/4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889CB8-3616-4BEB-B2B8-9A66E5273231}" type="slidenum">
              <a:rPr lang="en-US" altLang="zh-CN"/>
              <a:pPr>
                <a:defRPr/>
              </a:pPr>
              <a:t>20</a:t>
            </a:fld>
            <a:endParaRPr lang="en-US" altLang="zh-CN"/>
          </a:p>
        </p:txBody>
      </p:sp>
      <p:sp>
        <p:nvSpPr>
          <p:cNvPr id="133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400" b="1" dirty="0">
                <a:solidFill>
                  <a:srgbClr val="000099"/>
                </a:solidFill>
                <a:ea typeface="华文细黑" panose="02010600040101010101" pitchFamily="2" charset="-122"/>
              </a:rPr>
              <a:t>动态检查约定</a:t>
            </a:r>
            <a:r>
              <a:rPr lang="zh-CN" altLang="en-US" sz="2800" b="1" dirty="0">
                <a:solidFill>
                  <a:srgbClr val="000099"/>
                </a:solidFill>
                <a:ea typeface="华文细黑" panose="02010600040101010101" pitchFamily="2" charset="-122"/>
              </a:rPr>
              <a:t>：</a:t>
            </a:r>
            <a:endParaRPr lang="zh-CN" altLang="en-US" sz="2800" b="1" dirty="0"/>
          </a:p>
        </p:txBody>
      </p:sp>
      <p:sp>
        <p:nvSpPr>
          <p:cNvPr id="1331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066800"/>
            <a:ext cx="8153400" cy="5373779"/>
          </a:xfrm>
          <a:noFill/>
        </p:spPr>
        <p:txBody>
          <a:bodyPr>
            <a:spAutoFit/>
          </a:bodyPr>
          <a:lstStyle/>
          <a:p>
            <a:pPr eaLnBrk="1" hangingPunct="1">
              <a:lnSpc>
                <a:spcPct val="80000"/>
              </a:lnSpc>
              <a:buNone/>
            </a:pPr>
            <a:r>
              <a:rPr lang="en-US" altLang="zh-CN" sz="2200" b="1" dirty="0"/>
              <a:t>% coin solution2b.c0 -d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200" b="1" dirty="0"/>
              <a:t>C0 interpreter (coin) 0.3.2 'Nickel' (r256, Thu Jan 3 14:18:03 EST 2013)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200" b="1" dirty="0"/>
              <a:t>Type `#help' for help or `#quit' to exit.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200" b="1" dirty="0"/>
              <a:t>--&gt; f(3,2);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200" b="1" dirty="0"/>
              <a:t>9 (</a:t>
            </a:r>
            <a:r>
              <a:rPr lang="en-US" altLang="zh-CN" sz="2200" b="1" dirty="0" err="1"/>
              <a:t>int</a:t>
            </a:r>
            <a:r>
              <a:rPr lang="en-US" altLang="zh-CN" sz="2200" b="1" dirty="0"/>
              <a:t>)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200" b="1" dirty="0"/>
              <a:t>--&gt; f(3,-1);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200" b="1" dirty="0"/>
              <a:t>foo.c0:12.4-12.20: @requires annotation failed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200" b="1" dirty="0"/>
              <a:t>Last position: foo.c0:12.4-12.20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200" b="1" dirty="0"/>
              <a:t>f from &lt;</a:t>
            </a:r>
            <a:r>
              <a:rPr lang="en-US" altLang="zh-CN" sz="2200" b="1" dirty="0" err="1"/>
              <a:t>stdio</a:t>
            </a:r>
            <a:r>
              <a:rPr lang="en-US" altLang="zh-CN" sz="2200" b="1" dirty="0"/>
              <a:t>&gt;:1.1-1.8</a:t>
            </a:r>
          </a:p>
          <a:p>
            <a:pPr eaLnBrk="1" hangingPunct="1">
              <a:lnSpc>
                <a:spcPct val="80000"/>
              </a:lnSpc>
              <a:buNone/>
            </a:pPr>
            <a:endParaRPr lang="en-US" altLang="zh-CN" sz="2200" b="1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200" b="1" dirty="0"/>
              <a:t>--&gt; f(2,0);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200" b="1" dirty="0"/>
              <a:t>foo.c0:13.4-13.32: @ensures annotation failed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200" b="1" dirty="0"/>
              <a:t>Last position: foo.c0:13.4-13.32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200" b="1" dirty="0"/>
              <a:t>f from &lt;</a:t>
            </a:r>
            <a:r>
              <a:rPr lang="en-US" altLang="zh-CN" sz="2200" b="1" dirty="0" err="1"/>
              <a:t>stdio</a:t>
            </a:r>
            <a:r>
              <a:rPr lang="en-US" altLang="zh-CN" sz="2200" b="1" dirty="0"/>
              <a:t>&gt;:1.1-1.7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200" b="1" dirty="0"/>
              <a:t>--&gt;</a:t>
            </a:r>
          </a:p>
        </p:txBody>
      </p:sp>
      <p:sp>
        <p:nvSpPr>
          <p:cNvPr id="13319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endParaRPr lang="zh-CN" altLang="en-US" sz="1800">
              <a:solidFill>
                <a:srgbClr val="000099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0" y="5420519"/>
            <a:ext cx="3048000" cy="42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255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33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33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29C8C25-8062-4CBB-A3CC-6AE35CE224C5}" type="datetime1">
              <a:rPr lang="zh-CN" altLang="en-US"/>
              <a:pPr>
                <a:defRPr/>
              </a:pPr>
              <a:t>2026/3/4</a:t>
            </a:fld>
            <a:endParaRPr lang="en-US" altLang="zh-CN"/>
          </a:p>
        </p:txBody>
      </p:sp>
      <p:sp>
        <p:nvSpPr>
          <p:cNvPr id="38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39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02CB08-A495-4023-B9BB-210C1DDA20BF}" type="slidenum">
              <a:rPr lang="en-US" altLang="zh-CN"/>
              <a:pPr>
                <a:defRPr/>
              </a:pPr>
              <a:t>21</a:t>
            </a:fld>
            <a:endParaRPr lang="en-US" altLang="zh-CN"/>
          </a:p>
        </p:txBody>
      </p:sp>
      <p:sp>
        <p:nvSpPr>
          <p:cNvPr id="143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800" b="1">
                <a:latin typeface="华文细黑" panose="02010600040101010101" pitchFamily="2" charset="-122"/>
                <a:ea typeface="华文细黑" panose="02010600040101010101" pitchFamily="2" charset="-122"/>
              </a:rPr>
              <a:t>归纳循环不变量：当</a:t>
            </a:r>
            <a:r>
              <a:rPr lang="en-US" altLang="zh-CN" sz="3800" b="1">
                <a:latin typeface="华文细黑" panose="02010600040101010101" pitchFamily="2" charset="-122"/>
                <a:ea typeface="华文细黑" panose="02010600040101010101" pitchFamily="2" charset="-122"/>
              </a:rPr>
              <a:t>e</a:t>
            </a:r>
            <a:r>
              <a:rPr lang="zh-CN" altLang="en-US" sz="3800" b="1">
                <a:latin typeface="华文细黑" panose="02010600040101010101" pitchFamily="2" charset="-122"/>
                <a:ea typeface="华文细黑" panose="02010600040101010101" pitchFamily="2" charset="-122"/>
              </a:rPr>
              <a:t>为奇数的情况</a:t>
            </a:r>
          </a:p>
        </p:txBody>
      </p:sp>
      <p:sp>
        <p:nvSpPr>
          <p:cNvPr id="1434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990600"/>
            <a:ext cx="4572000" cy="514032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/>
              <a:t>int f (int x, int y)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/>
              <a:t>//@requires y &gt;= 0;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/>
              <a:t>//@ensures \result == POW(x,y);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/>
              <a:t>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/>
              <a:t>    int r = 1;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/>
              <a:t>    int b = x; /* base */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/>
              <a:t>    int e = y; /* exponent */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/>
              <a:t>    while (e &gt; 1) 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/>
              <a:t>        if (e % 2 == 1) 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/>
              <a:t>            r = b * r;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/>
              <a:t>        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/>
              <a:t>        b = b * b;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/>
              <a:t>        e = e / 2;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/>
              <a:t>    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/>
              <a:t>    return r * b;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/>
              <a:t>}</a:t>
            </a:r>
          </a:p>
        </p:txBody>
      </p:sp>
      <p:graphicFrame>
        <p:nvGraphicFramePr>
          <p:cNvPr id="52355" name="Group 131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881085563"/>
              </p:ext>
            </p:extLst>
          </p:nvPr>
        </p:nvGraphicFramePr>
        <p:xfrm>
          <a:off x="3581400" y="2057400"/>
          <a:ext cx="4710113" cy="3308352"/>
        </p:xfrm>
        <a:graphic>
          <a:graphicData uri="http://schemas.openxmlformats.org/drawingml/2006/table">
            <a:tbl>
              <a:tblPr/>
              <a:tblGrid>
                <a:gridCol w="1676400">
                  <a:extLst>
                    <a:ext uri="{9D8B030D-6E8A-4147-A177-3AD203B41FA5}">
                      <a16:colId xmlns:a16="http://schemas.microsoft.com/office/drawing/2014/main" val="228603045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228109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94527555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965510177"/>
                    </a:ext>
                  </a:extLst>
                </a:gridCol>
                <a:gridCol w="747713">
                  <a:extLst>
                    <a:ext uri="{9D8B030D-6E8A-4147-A177-3AD203B41FA5}">
                      <a16:colId xmlns:a16="http://schemas.microsoft.com/office/drawing/2014/main" val="1225781833"/>
                    </a:ext>
                  </a:extLst>
                </a:gridCol>
              </a:tblGrid>
              <a:tr h="827088"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Iteration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24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3926340"/>
                  </a:ext>
                </a:extLst>
              </a:tr>
              <a:tr h="827088"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128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2878146"/>
                  </a:ext>
                </a:extLst>
              </a:tr>
              <a:tr h="827088"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64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9149830"/>
                  </a:ext>
                </a:extLst>
              </a:tr>
              <a:tr h="827088"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3076573"/>
                  </a:ext>
                </a:extLst>
              </a:tr>
            </a:tbl>
          </a:graphicData>
        </a:graphic>
      </p:graphicFrame>
      <p:sp>
        <p:nvSpPr>
          <p:cNvPr id="52356" name="Text Box 132"/>
          <p:cNvSpPr txBox="1">
            <a:spLocks noChangeArrowheads="1"/>
          </p:cNvSpPr>
          <p:nvPr/>
        </p:nvSpPr>
        <p:spPr bwMode="auto">
          <a:xfrm>
            <a:off x="3733800" y="5486400"/>
            <a:ext cx="441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69925" indent="-325438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022350" indent="-350838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39850" indent="-315913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681163" indent="-339725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138363" indent="-3397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595563" indent="-3397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052763" indent="-3397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509963" indent="-3397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zh-CN" altLang="en-US" sz="2400"/>
              <a:t>得到循环不变量：</a:t>
            </a:r>
            <a:r>
              <a:rPr lang="en-US" altLang="zh-CN" sz="2400"/>
              <a:t>r *b</a:t>
            </a:r>
            <a:r>
              <a:rPr lang="en-US" altLang="zh-CN" sz="2400" baseline="30000"/>
              <a:t>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2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2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35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CC56CE4-62B8-451C-BCDB-3953DF68FD6D}" type="datetime1">
              <a:rPr lang="zh-CN" altLang="en-US"/>
              <a:pPr>
                <a:defRPr/>
              </a:pPr>
              <a:t>2026/3/4</a:t>
            </a:fld>
            <a:endParaRPr lang="en-US" altLang="zh-CN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8560D4-7508-430B-8E6E-B872F685A6AE}" type="slidenum">
              <a:rPr lang="en-US" altLang="zh-CN"/>
              <a:pPr>
                <a:defRPr/>
              </a:pPr>
              <a:t>22</a:t>
            </a:fld>
            <a:endParaRPr lang="en-US" altLang="zh-CN"/>
          </a:p>
        </p:txBody>
      </p:sp>
      <p:sp>
        <p:nvSpPr>
          <p:cNvPr id="1536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304800"/>
            <a:ext cx="8229600" cy="582612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/>
              <a:t>int f (int x, int y)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/>
              <a:t>//@requires y &gt;= 0;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/>
              <a:t>//@ensures \result == POW(x,y);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/>
              <a:t>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/>
              <a:t>    int r = 1;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/>
              <a:t>    int b = x; /* base */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/>
              <a:t>    int e = y; /* exponent */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/>
              <a:t>    while (e &gt; 1)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/>
              <a:t>    </a:t>
            </a:r>
            <a:r>
              <a:rPr lang="en-US" altLang="zh-CN" sz="2200" b="1">
                <a:solidFill>
                  <a:srgbClr val="FF0000"/>
                </a:solidFill>
              </a:rPr>
              <a:t>//@loop_invariant r * POW(b,e) == POW(x,y);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/>
              <a:t>    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/>
              <a:t>        if (e % 2 == 1) 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/>
              <a:t>            r = b * r;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/>
              <a:t>        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/>
              <a:t>        b = b * b;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/>
              <a:t>        e = e / 2;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/>
              <a:t>    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/>
              <a:t>    return r * b;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/>
              <a:t>}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88BD509-9BE0-4266-A802-B1F882FA802E}" type="datetime1">
              <a:rPr lang="zh-CN" altLang="en-US"/>
              <a:pPr>
                <a:defRPr/>
              </a:pPr>
              <a:t>2026/3/4</a:t>
            </a:fld>
            <a:endParaRPr lang="en-US" altLang="zh-CN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05E7BF-5511-4BCB-B947-81D0AB6F9BC6}" type="slidenum">
              <a:rPr lang="en-US" altLang="zh-CN"/>
              <a:pPr>
                <a:defRPr/>
              </a:pPr>
              <a:t>23</a:t>
            </a:fld>
            <a:endParaRPr lang="en-US" altLang="zh-CN"/>
          </a:p>
        </p:txBody>
      </p:sp>
      <p:sp>
        <p:nvSpPr>
          <p:cNvPr id="1638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28600"/>
            <a:ext cx="8229600" cy="59023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200" b="1"/>
              <a:t>int f (int x, int y)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200" b="1"/>
              <a:t>//@requires y &gt;= 0;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200" b="1"/>
              <a:t>//@ensures \result == POW(x,y);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200" b="1"/>
              <a:t>{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200" b="1"/>
              <a:t>    int r = 1;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200" b="1"/>
              <a:t>    int b = x; /* base */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200" b="1"/>
              <a:t>    int e = y; /* exponent */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200" b="1"/>
              <a:t>    while (</a:t>
            </a:r>
            <a:r>
              <a:rPr lang="en-US" altLang="zh-CN" sz="2200" b="1">
                <a:solidFill>
                  <a:srgbClr val="FF0000"/>
                </a:solidFill>
              </a:rPr>
              <a:t>e &gt; 0</a:t>
            </a:r>
            <a:r>
              <a:rPr lang="en-US" altLang="zh-CN" sz="2200" b="1"/>
              <a:t>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200" b="1"/>
              <a:t>    //@loop_invariant r * POW(b,e) == POW(x,y);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200" b="1"/>
              <a:t>    {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200" b="1"/>
              <a:t>        if (e % 2 == 1) r = b * r;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200" b="1"/>
              <a:t>        b = b * b;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200" b="1"/>
              <a:t>        e = e / 2;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200" b="1"/>
              <a:t>    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200" b="1"/>
              <a:t>    </a:t>
            </a:r>
            <a:r>
              <a:rPr lang="en-US" altLang="zh-CN" sz="2200" b="1">
                <a:solidFill>
                  <a:srgbClr val="FF0000"/>
                </a:solidFill>
              </a:rPr>
              <a:t>return r;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200" b="1"/>
              <a:t>}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182A1184-5A4A-4A4C-B7A0-8871A687233C}" type="datetime1">
              <a:rPr lang="zh-CN" altLang="en-US"/>
              <a:pPr>
                <a:defRPr/>
              </a:pPr>
              <a:t>2026/3/4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889CB8-3616-4BEB-B2B8-9A66E5273231}" type="slidenum">
              <a:rPr lang="en-US" altLang="zh-CN"/>
              <a:pPr>
                <a:defRPr/>
              </a:pPr>
              <a:t>24</a:t>
            </a:fld>
            <a:endParaRPr lang="en-US" altLang="zh-CN"/>
          </a:p>
        </p:txBody>
      </p:sp>
      <p:sp>
        <p:nvSpPr>
          <p:cNvPr id="133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400" b="1" dirty="0">
                <a:solidFill>
                  <a:srgbClr val="000099"/>
                </a:solidFill>
                <a:ea typeface="华文细黑" panose="02010600040101010101" pitchFamily="2" charset="-122"/>
              </a:rPr>
              <a:t>动态检查约定</a:t>
            </a:r>
            <a:r>
              <a:rPr lang="zh-CN" altLang="en-US" sz="2800" b="1" dirty="0">
                <a:solidFill>
                  <a:srgbClr val="000099"/>
                </a:solidFill>
                <a:ea typeface="华文细黑" panose="02010600040101010101" pitchFamily="2" charset="-122"/>
              </a:rPr>
              <a:t>：</a:t>
            </a:r>
            <a:endParaRPr lang="zh-CN" altLang="en-US" sz="2800" b="1" dirty="0"/>
          </a:p>
        </p:txBody>
      </p:sp>
      <p:sp>
        <p:nvSpPr>
          <p:cNvPr id="1331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066800"/>
            <a:ext cx="8153400" cy="3415102"/>
          </a:xfrm>
          <a:noFill/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  <a:buNone/>
            </a:pPr>
            <a:r>
              <a:rPr lang="en-US" altLang="zh-CN" sz="2200" b="1" dirty="0"/>
              <a:t>% coin solution2d.c0 -d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sz="2200" b="1" dirty="0"/>
              <a:t>Coin 0.2.3 "Penny" (r1478, Thu Jan 20 16:14:15 EST 2011)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sz="2200" b="1" dirty="0"/>
              <a:t>Type `#help' for help or `#quit' to exit.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sz="2200" b="1" dirty="0"/>
              <a:t>--&gt; f(2,0);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sz="2200" b="1" dirty="0"/>
              <a:t>1 (</a:t>
            </a:r>
            <a:r>
              <a:rPr lang="en-US" altLang="zh-CN" sz="2200" b="1" dirty="0" err="1"/>
              <a:t>int</a:t>
            </a:r>
            <a:r>
              <a:rPr lang="en-US" altLang="zh-CN" sz="2200" b="1" dirty="0"/>
              <a:t>)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sz="2200" b="1" dirty="0"/>
              <a:t>--&gt;</a:t>
            </a:r>
          </a:p>
        </p:txBody>
      </p:sp>
      <p:sp>
        <p:nvSpPr>
          <p:cNvPr id="13319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endParaRPr lang="zh-CN" altLang="en-US" sz="1800">
              <a:solidFill>
                <a:srgbClr val="0000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6466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81C5C20-782C-4A02-970F-CC0D82F5BF38}" type="datetime1">
              <a:rPr lang="zh-CN" altLang="en-US"/>
              <a:pPr>
                <a:defRPr/>
              </a:pPr>
              <a:t>2026/3/4</a:t>
            </a:fld>
            <a:endParaRPr lang="en-US" altLang="zh-CN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001E911-461A-42C8-8D17-B696C5386A36}" type="slidenum">
              <a:rPr lang="en-US" altLang="zh-CN"/>
              <a:pPr>
                <a:defRPr/>
              </a:pPr>
              <a:t>25</a:t>
            </a:fld>
            <a:endParaRPr lang="en-US" altLang="zh-CN"/>
          </a:p>
        </p:txBody>
      </p:sp>
      <p:sp>
        <p:nvSpPr>
          <p:cNvPr id="1741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28600"/>
            <a:ext cx="8229600" cy="590232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 dirty="0" err="1"/>
              <a:t>int</a:t>
            </a:r>
            <a:r>
              <a:rPr lang="en-US" altLang="zh-CN" sz="2200" b="1" dirty="0"/>
              <a:t> f (</a:t>
            </a:r>
            <a:r>
              <a:rPr lang="en-US" altLang="zh-CN" sz="2200" b="1" dirty="0" err="1"/>
              <a:t>int</a:t>
            </a:r>
            <a:r>
              <a:rPr lang="en-US" altLang="zh-CN" sz="2200" b="1" dirty="0"/>
              <a:t> x, </a:t>
            </a:r>
            <a:r>
              <a:rPr lang="en-US" altLang="zh-CN" sz="2200" b="1" dirty="0" err="1"/>
              <a:t>int</a:t>
            </a:r>
            <a:r>
              <a:rPr lang="en-US" altLang="zh-CN" sz="2200" b="1" dirty="0"/>
              <a:t> y)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 dirty="0"/>
              <a:t>//@requires y &gt;= 0;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 dirty="0"/>
              <a:t>//@ensures \result == POW(</a:t>
            </a:r>
            <a:r>
              <a:rPr lang="en-US" altLang="zh-CN" sz="2200" b="1" dirty="0" err="1"/>
              <a:t>x,y</a:t>
            </a:r>
            <a:r>
              <a:rPr lang="en-US" altLang="zh-CN" sz="2200" b="1" dirty="0"/>
              <a:t>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 dirty="0"/>
              <a:t>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 dirty="0"/>
              <a:t>    </a:t>
            </a:r>
            <a:r>
              <a:rPr lang="en-US" altLang="zh-CN" sz="2200" b="1" dirty="0" err="1"/>
              <a:t>int</a:t>
            </a:r>
            <a:r>
              <a:rPr lang="en-US" altLang="zh-CN" sz="2200" b="1" dirty="0"/>
              <a:t> r = 1;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 dirty="0"/>
              <a:t>    </a:t>
            </a:r>
            <a:r>
              <a:rPr lang="en-US" altLang="zh-CN" sz="2200" b="1" dirty="0" err="1"/>
              <a:t>int</a:t>
            </a:r>
            <a:r>
              <a:rPr lang="en-US" altLang="zh-CN" sz="2200" b="1" dirty="0"/>
              <a:t> b = x; /* base */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 dirty="0"/>
              <a:t>    </a:t>
            </a:r>
            <a:r>
              <a:rPr lang="en-US" altLang="zh-CN" sz="2200" b="1" dirty="0" err="1"/>
              <a:t>int</a:t>
            </a:r>
            <a:r>
              <a:rPr lang="en-US" altLang="zh-CN" sz="2200" b="1" dirty="0"/>
              <a:t> e = y; /* exponent */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 dirty="0"/>
              <a:t>    while (e &gt; 0)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 dirty="0"/>
              <a:t>    </a:t>
            </a:r>
            <a:r>
              <a:rPr lang="en-US" altLang="zh-CN" sz="2200" b="1" dirty="0">
                <a:solidFill>
                  <a:srgbClr val="FF0000"/>
                </a:solidFill>
              </a:rPr>
              <a:t>//@</a:t>
            </a:r>
            <a:r>
              <a:rPr lang="en-US" altLang="zh-CN" sz="2200" b="1" dirty="0" err="1">
                <a:solidFill>
                  <a:srgbClr val="FF0000"/>
                </a:solidFill>
              </a:rPr>
              <a:t>loop_invariant</a:t>
            </a:r>
            <a:r>
              <a:rPr lang="en-US" altLang="zh-CN" sz="2200" b="1" dirty="0">
                <a:solidFill>
                  <a:srgbClr val="FF0000"/>
                </a:solidFill>
              </a:rPr>
              <a:t> e &gt;= 0;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 dirty="0"/>
              <a:t>    //@</a:t>
            </a:r>
            <a:r>
              <a:rPr lang="en-US" altLang="zh-CN" sz="2200" b="1" dirty="0" err="1"/>
              <a:t>loop_invariant</a:t>
            </a:r>
            <a:r>
              <a:rPr lang="en-US" altLang="zh-CN" sz="2200" b="1" dirty="0"/>
              <a:t> r * POW(</a:t>
            </a:r>
            <a:r>
              <a:rPr lang="en-US" altLang="zh-CN" sz="2200" b="1" dirty="0" err="1"/>
              <a:t>b,e</a:t>
            </a:r>
            <a:r>
              <a:rPr lang="en-US" altLang="zh-CN" sz="2200" b="1" dirty="0"/>
              <a:t>) == POW(</a:t>
            </a:r>
            <a:r>
              <a:rPr lang="en-US" altLang="zh-CN" sz="2200" b="1" dirty="0" err="1"/>
              <a:t>x,y</a:t>
            </a:r>
            <a:r>
              <a:rPr lang="en-US" altLang="zh-CN" sz="2200" b="1" dirty="0"/>
              <a:t>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 dirty="0"/>
              <a:t>    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 dirty="0"/>
              <a:t>        if (e % 2 == 1)   r = b * r;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 dirty="0"/>
              <a:t>        b = b * b;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 dirty="0"/>
              <a:t>        e = e / 2;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 dirty="0"/>
              <a:t>    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 dirty="0"/>
              <a:t>    </a:t>
            </a:r>
            <a:r>
              <a:rPr lang="en-US" altLang="zh-CN" sz="2200" b="1" dirty="0">
                <a:solidFill>
                  <a:srgbClr val="FF0000"/>
                </a:solidFill>
              </a:rPr>
              <a:t>//@assert e == 0;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 dirty="0"/>
              <a:t>    return r;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 dirty="0"/>
              <a:t>}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3581400" y="4237780"/>
            <a:ext cx="5029200" cy="16825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1" hangingPunct="1">
              <a:lnSpc>
                <a:spcPct val="150000"/>
              </a:lnSpc>
              <a:buNone/>
            </a:pPr>
            <a:r>
              <a:rPr lang="en-US" altLang="zh-CN" sz="2400" dirty="0">
                <a:solidFill>
                  <a:schemeClr val="tx2"/>
                </a:solidFill>
              </a:rPr>
              <a:t>@assert</a:t>
            </a:r>
            <a:r>
              <a:rPr lang="zh-CN" altLang="en-US" sz="2400" dirty="0">
                <a:solidFill>
                  <a:schemeClr val="tx2"/>
                </a:solidFill>
              </a:rPr>
              <a:t>是一个非常有用的调试工具，而且有时候能够帮助读者更好地理解程序员的意图。</a:t>
            </a:r>
            <a:endParaRPr lang="en-US" altLang="zh-CN" sz="2400"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81C5C20-782C-4A02-970F-CC0D82F5BF38}" type="datetime1">
              <a:rPr lang="zh-CN" altLang="en-US"/>
              <a:pPr>
                <a:defRPr/>
              </a:pPr>
              <a:t>2026/3/4</a:t>
            </a:fld>
            <a:endParaRPr lang="en-US" altLang="zh-CN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001E911-461A-42C8-8D17-B696C5386A36}" type="slidenum">
              <a:rPr lang="en-US" altLang="zh-CN"/>
              <a:pPr>
                <a:defRPr/>
              </a:pPr>
              <a:t>26</a:t>
            </a:fld>
            <a:endParaRPr lang="en-US" altLang="zh-CN"/>
          </a:p>
        </p:txBody>
      </p:sp>
      <p:sp>
        <p:nvSpPr>
          <p:cNvPr id="1741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28600"/>
            <a:ext cx="8229600" cy="590232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 dirty="0" err="1"/>
              <a:t>int</a:t>
            </a:r>
            <a:r>
              <a:rPr lang="en-US" altLang="zh-CN" sz="2200" b="1" dirty="0"/>
              <a:t> f (</a:t>
            </a:r>
            <a:r>
              <a:rPr lang="en-US" altLang="zh-CN" sz="2200" b="1" dirty="0" err="1"/>
              <a:t>int</a:t>
            </a:r>
            <a:r>
              <a:rPr lang="en-US" altLang="zh-CN" sz="2200" b="1" dirty="0"/>
              <a:t> x, </a:t>
            </a:r>
            <a:r>
              <a:rPr lang="en-US" altLang="zh-CN" sz="2200" b="1" dirty="0" err="1"/>
              <a:t>int</a:t>
            </a:r>
            <a:r>
              <a:rPr lang="en-US" altLang="zh-CN" sz="2200" b="1" dirty="0"/>
              <a:t> y)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 dirty="0"/>
              <a:t>//@requires y &gt;= 0;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 dirty="0"/>
              <a:t>//@ensures \result == POW(</a:t>
            </a:r>
            <a:r>
              <a:rPr lang="en-US" altLang="zh-CN" sz="2200" b="1" dirty="0" err="1"/>
              <a:t>x,y</a:t>
            </a:r>
            <a:r>
              <a:rPr lang="en-US" altLang="zh-CN" sz="2200" b="1" dirty="0"/>
              <a:t>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 dirty="0"/>
              <a:t>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 dirty="0"/>
              <a:t>    </a:t>
            </a:r>
            <a:r>
              <a:rPr lang="en-US" altLang="zh-CN" sz="2200" b="1" dirty="0" err="1"/>
              <a:t>int</a:t>
            </a:r>
            <a:r>
              <a:rPr lang="en-US" altLang="zh-CN" sz="2200" b="1" dirty="0"/>
              <a:t> r = 1;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 dirty="0"/>
              <a:t>    </a:t>
            </a:r>
            <a:r>
              <a:rPr lang="en-US" altLang="zh-CN" sz="2200" b="1" dirty="0" err="1"/>
              <a:t>int</a:t>
            </a:r>
            <a:r>
              <a:rPr lang="en-US" altLang="zh-CN" sz="2200" b="1" dirty="0"/>
              <a:t> b = x; /* base */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 dirty="0"/>
              <a:t>    </a:t>
            </a:r>
            <a:r>
              <a:rPr lang="en-US" altLang="zh-CN" sz="2200" b="1" dirty="0" err="1"/>
              <a:t>int</a:t>
            </a:r>
            <a:r>
              <a:rPr lang="en-US" altLang="zh-CN" sz="2200" b="1" dirty="0"/>
              <a:t> e = y; /* exponent */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 dirty="0"/>
              <a:t>    while (e &gt; 0)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 dirty="0">
                <a:solidFill>
                  <a:srgbClr val="FF0000"/>
                </a:solidFill>
              </a:rPr>
              <a:t>    //@</a:t>
            </a:r>
            <a:r>
              <a:rPr lang="en-US" altLang="zh-CN" sz="2200" b="1" dirty="0" err="1">
                <a:solidFill>
                  <a:srgbClr val="FF0000"/>
                </a:solidFill>
              </a:rPr>
              <a:t>loop_invariant</a:t>
            </a:r>
            <a:r>
              <a:rPr lang="en-US" altLang="zh-CN" sz="2200" b="1" dirty="0">
                <a:solidFill>
                  <a:srgbClr val="FF0000"/>
                </a:solidFill>
              </a:rPr>
              <a:t> e &gt;= 0;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 dirty="0">
                <a:solidFill>
                  <a:srgbClr val="FF0000"/>
                </a:solidFill>
              </a:rPr>
              <a:t>    //@</a:t>
            </a:r>
            <a:r>
              <a:rPr lang="en-US" altLang="zh-CN" sz="2200" b="1" dirty="0" err="1">
                <a:solidFill>
                  <a:srgbClr val="FF0000"/>
                </a:solidFill>
              </a:rPr>
              <a:t>loop_invariant</a:t>
            </a:r>
            <a:r>
              <a:rPr lang="en-US" altLang="zh-CN" sz="2200" b="1" dirty="0">
                <a:solidFill>
                  <a:srgbClr val="FF0000"/>
                </a:solidFill>
              </a:rPr>
              <a:t> r * POW(</a:t>
            </a:r>
            <a:r>
              <a:rPr lang="en-US" altLang="zh-CN" sz="2200" b="1" dirty="0" err="1">
                <a:solidFill>
                  <a:srgbClr val="FF0000"/>
                </a:solidFill>
              </a:rPr>
              <a:t>b,e</a:t>
            </a:r>
            <a:r>
              <a:rPr lang="en-US" altLang="zh-CN" sz="2200" b="1" dirty="0">
                <a:solidFill>
                  <a:srgbClr val="FF0000"/>
                </a:solidFill>
              </a:rPr>
              <a:t>) == POW(</a:t>
            </a:r>
            <a:r>
              <a:rPr lang="en-US" altLang="zh-CN" sz="2200" b="1" dirty="0" err="1">
                <a:solidFill>
                  <a:srgbClr val="FF0000"/>
                </a:solidFill>
              </a:rPr>
              <a:t>x,y</a:t>
            </a:r>
            <a:r>
              <a:rPr lang="en-US" altLang="zh-CN" sz="2200" b="1" dirty="0">
                <a:solidFill>
                  <a:srgbClr val="FF0000"/>
                </a:solidFill>
              </a:rPr>
              <a:t>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 dirty="0"/>
              <a:t>    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 dirty="0"/>
              <a:t>        if (e % 2 == 1)   r = b * r;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 dirty="0"/>
              <a:t>        b = b * b;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 dirty="0"/>
              <a:t>        e = e / 2;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 dirty="0"/>
              <a:t>    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 dirty="0"/>
              <a:t>    </a:t>
            </a:r>
            <a:r>
              <a:rPr lang="en-US" altLang="zh-CN" sz="2200" b="1" dirty="0">
                <a:solidFill>
                  <a:srgbClr val="000066"/>
                </a:solidFill>
              </a:rPr>
              <a:t>//@assert e == 0;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 dirty="0"/>
              <a:t>    return r;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 dirty="0"/>
              <a:t>}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3733800" y="381000"/>
            <a:ext cx="5029200" cy="252992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1" hangingPunct="1">
              <a:lnSpc>
                <a:spcPct val="150000"/>
              </a:lnSpc>
              <a:buNone/>
            </a:pPr>
            <a:r>
              <a:rPr lang="zh-CN" altLang="en-US" sz="2400" dirty="0">
                <a:solidFill>
                  <a:schemeClr val="tx2"/>
                </a:solidFill>
              </a:rPr>
              <a:t>循环不变量的证明：</a:t>
            </a:r>
            <a:endParaRPr lang="en-US" altLang="zh-CN" sz="2400" dirty="0">
              <a:solidFill>
                <a:schemeClr val="tx2"/>
              </a:solidFill>
            </a:endParaRPr>
          </a:p>
          <a:p>
            <a:pPr marL="0" indent="0" algn="just" eaLnBrk="1" hangingPunct="1">
              <a:lnSpc>
                <a:spcPct val="150000"/>
              </a:lnSpc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1. </a:t>
            </a:r>
            <a:r>
              <a:rPr lang="zh-CN" altLang="en-US" sz="2400" b="1" dirty="0">
                <a:solidFill>
                  <a:schemeClr val="tx2"/>
                </a:solidFill>
              </a:rPr>
              <a:t>初始状态下，是否成立；</a:t>
            </a:r>
            <a:endParaRPr lang="en-US" altLang="zh-CN" sz="2400" b="1" dirty="0">
              <a:solidFill>
                <a:schemeClr val="tx2"/>
              </a:solidFill>
            </a:endParaRPr>
          </a:p>
          <a:p>
            <a:pPr marL="0" indent="0" algn="just" eaLnBrk="1" hangingPunct="1">
              <a:lnSpc>
                <a:spcPct val="150000"/>
              </a:lnSpc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2. </a:t>
            </a:r>
            <a:r>
              <a:rPr lang="zh-CN" altLang="en-US" sz="2400" b="1" dirty="0">
                <a:solidFill>
                  <a:schemeClr val="tx2"/>
                </a:solidFill>
              </a:rPr>
              <a:t>假设在循环开始前，是成立的。</a:t>
            </a:r>
            <a:endParaRPr lang="en-US" altLang="zh-CN" sz="2400" b="1" dirty="0">
              <a:solidFill>
                <a:schemeClr val="tx2"/>
              </a:solidFill>
            </a:endParaRPr>
          </a:p>
          <a:p>
            <a:pPr marL="0" indent="0" algn="just" eaLnBrk="1" hangingPunct="1">
              <a:lnSpc>
                <a:spcPct val="150000"/>
              </a:lnSpc>
              <a:buNone/>
            </a:pPr>
            <a:r>
              <a:rPr lang="zh-CN" altLang="en-US" sz="2400" dirty="0">
                <a:solidFill>
                  <a:schemeClr val="tx2"/>
                </a:solidFill>
              </a:rPr>
              <a:t>当循环执行一次后，是否仍然成立；</a:t>
            </a:r>
            <a:endParaRPr lang="en-US" altLang="zh-CN" sz="2400" b="1" dirty="0">
              <a:solidFill>
                <a:schemeClr val="tx2"/>
              </a:solidFill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3733800" y="4273608"/>
            <a:ext cx="5029200" cy="127419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1" hangingPunct="1">
              <a:lnSpc>
                <a:spcPct val="150000"/>
              </a:lnSpc>
              <a:buNone/>
            </a:pPr>
            <a:r>
              <a:rPr lang="zh-CN" altLang="en-US" sz="2400" dirty="0">
                <a:solidFill>
                  <a:schemeClr val="tx2"/>
                </a:solidFill>
              </a:rPr>
              <a:t>证明的过程请查看文档：</a:t>
            </a:r>
            <a:endParaRPr lang="en-US" altLang="zh-CN" sz="2400" dirty="0">
              <a:solidFill>
                <a:schemeClr val="tx2"/>
              </a:solidFill>
            </a:endParaRPr>
          </a:p>
          <a:p>
            <a:pPr marL="0" indent="0" algn="just" eaLnBrk="1" hangingPunct="1">
              <a:lnSpc>
                <a:spcPct val="150000"/>
              </a:lnSpc>
              <a:buNone/>
            </a:pPr>
            <a:r>
              <a:rPr lang="zh-CN" altLang="en-US" sz="2400" dirty="0">
                <a:solidFill>
                  <a:schemeClr val="tx2"/>
                </a:solidFill>
              </a:rPr>
              <a:t>示例</a:t>
            </a:r>
            <a:r>
              <a:rPr lang="en-US" altLang="zh-CN" sz="2400" dirty="0">
                <a:solidFill>
                  <a:schemeClr val="tx2"/>
                </a:solidFill>
              </a:rPr>
              <a:t>-</a:t>
            </a:r>
            <a:r>
              <a:rPr lang="zh-CN" altLang="en-US" sz="2400" dirty="0">
                <a:solidFill>
                  <a:schemeClr val="tx2"/>
                </a:solidFill>
              </a:rPr>
              <a:t>循环不变量的证明</a:t>
            </a:r>
            <a:r>
              <a:rPr lang="en-US" altLang="zh-CN" sz="2400" dirty="0">
                <a:solidFill>
                  <a:schemeClr val="tx2"/>
                </a:solidFill>
              </a:rPr>
              <a:t>.</a:t>
            </a:r>
            <a:r>
              <a:rPr lang="en-US" altLang="zh-CN" sz="2400" dirty="0" err="1">
                <a:solidFill>
                  <a:schemeClr val="tx2"/>
                </a:solidFill>
              </a:rPr>
              <a:t>docx</a:t>
            </a:r>
            <a:endParaRPr lang="en-US" altLang="zh-CN" sz="24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7477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81C5C20-782C-4A02-970F-CC0D82F5BF38}" type="datetime1">
              <a:rPr lang="zh-CN" altLang="en-US"/>
              <a:pPr>
                <a:defRPr/>
              </a:pPr>
              <a:t>2026/3/4</a:t>
            </a:fld>
            <a:endParaRPr lang="en-US" altLang="zh-CN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001E911-461A-42C8-8D17-B696C5386A36}" type="slidenum">
              <a:rPr lang="en-US" altLang="zh-CN"/>
              <a:pPr>
                <a:defRPr/>
              </a:pPr>
              <a:t>27</a:t>
            </a:fld>
            <a:endParaRPr lang="en-US" altLang="zh-CN"/>
          </a:p>
        </p:txBody>
      </p:sp>
      <p:sp>
        <p:nvSpPr>
          <p:cNvPr id="1741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28600"/>
            <a:ext cx="8229600" cy="590232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 dirty="0" err="1"/>
              <a:t>int</a:t>
            </a:r>
            <a:r>
              <a:rPr lang="en-US" altLang="zh-CN" sz="2200" b="1" dirty="0"/>
              <a:t> f (</a:t>
            </a:r>
            <a:r>
              <a:rPr lang="en-US" altLang="zh-CN" sz="2200" b="1" dirty="0" err="1"/>
              <a:t>int</a:t>
            </a:r>
            <a:r>
              <a:rPr lang="en-US" altLang="zh-CN" sz="2200" b="1" dirty="0"/>
              <a:t> x, </a:t>
            </a:r>
            <a:r>
              <a:rPr lang="en-US" altLang="zh-CN" sz="2200" b="1" dirty="0" err="1"/>
              <a:t>int</a:t>
            </a:r>
            <a:r>
              <a:rPr lang="en-US" altLang="zh-CN" sz="2200" b="1" dirty="0"/>
              <a:t> y)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 dirty="0"/>
              <a:t>//@requires y &gt;= 0;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 dirty="0"/>
              <a:t>//@ensures \result == POW(</a:t>
            </a:r>
            <a:r>
              <a:rPr lang="en-US" altLang="zh-CN" sz="2200" b="1" dirty="0" err="1"/>
              <a:t>x,y</a:t>
            </a:r>
            <a:r>
              <a:rPr lang="en-US" altLang="zh-CN" sz="2200" b="1" dirty="0"/>
              <a:t>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 dirty="0"/>
              <a:t>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 dirty="0"/>
              <a:t>    </a:t>
            </a:r>
            <a:r>
              <a:rPr lang="en-US" altLang="zh-CN" sz="2200" b="1" dirty="0" err="1"/>
              <a:t>int</a:t>
            </a:r>
            <a:r>
              <a:rPr lang="en-US" altLang="zh-CN" sz="2200" b="1" dirty="0"/>
              <a:t> r = 1;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 dirty="0"/>
              <a:t>    </a:t>
            </a:r>
            <a:r>
              <a:rPr lang="en-US" altLang="zh-CN" sz="2200" b="1" dirty="0" err="1"/>
              <a:t>int</a:t>
            </a:r>
            <a:r>
              <a:rPr lang="en-US" altLang="zh-CN" sz="2200" b="1" dirty="0"/>
              <a:t> b = x; /* base */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 dirty="0"/>
              <a:t>    </a:t>
            </a:r>
            <a:r>
              <a:rPr lang="en-US" altLang="zh-CN" sz="2200" b="1" dirty="0" err="1"/>
              <a:t>int</a:t>
            </a:r>
            <a:r>
              <a:rPr lang="en-US" altLang="zh-CN" sz="2200" b="1" dirty="0"/>
              <a:t> e = y; /* exponent */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 dirty="0">
                <a:solidFill>
                  <a:srgbClr val="FF0000"/>
                </a:solidFill>
              </a:rPr>
              <a:t>    while (e &gt; 0)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 dirty="0">
                <a:solidFill>
                  <a:srgbClr val="FF0000"/>
                </a:solidFill>
              </a:rPr>
              <a:t>    //@</a:t>
            </a:r>
            <a:r>
              <a:rPr lang="en-US" altLang="zh-CN" sz="2200" b="1" dirty="0" err="1">
                <a:solidFill>
                  <a:srgbClr val="FF0000"/>
                </a:solidFill>
              </a:rPr>
              <a:t>loop_invariant</a:t>
            </a:r>
            <a:r>
              <a:rPr lang="en-US" altLang="zh-CN" sz="2200" b="1" dirty="0">
                <a:solidFill>
                  <a:srgbClr val="FF0000"/>
                </a:solidFill>
              </a:rPr>
              <a:t> e &gt;= 0;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 dirty="0">
                <a:solidFill>
                  <a:srgbClr val="FF0000"/>
                </a:solidFill>
              </a:rPr>
              <a:t>    //@</a:t>
            </a:r>
            <a:r>
              <a:rPr lang="en-US" altLang="zh-CN" sz="2200" b="1" dirty="0" err="1">
                <a:solidFill>
                  <a:srgbClr val="FF0000"/>
                </a:solidFill>
              </a:rPr>
              <a:t>loop_invariant</a:t>
            </a:r>
            <a:r>
              <a:rPr lang="en-US" altLang="zh-CN" sz="2200" b="1" dirty="0">
                <a:solidFill>
                  <a:srgbClr val="FF0000"/>
                </a:solidFill>
              </a:rPr>
              <a:t> r * POW(</a:t>
            </a:r>
            <a:r>
              <a:rPr lang="en-US" altLang="zh-CN" sz="2200" b="1" dirty="0" err="1">
                <a:solidFill>
                  <a:srgbClr val="FF0000"/>
                </a:solidFill>
              </a:rPr>
              <a:t>b,e</a:t>
            </a:r>
            <a:r>
              <a:rPr lang="en-US" altLang="zh-CN" sz="2200" b="1" dirty="0">
                <a:solidFill>
                  <a:srgbClr val="FF0000"/>
                </a:solidFill>
              </a:rPr>
              <a:t>) == POW(</a:t>
            </a:r>
            <a:r>
              <a:rPr lang="en-US" altLang="zh-CN" sz="2200" b="1" dirty="0" err="1">
                <a:solidFill>
                  <a:srgbClr val="FF0000"/>
                </a:solidFill>
              </a:rPr>
              <a:t>x,y</a:t>
            </a:r>
            <a:r>
              <a:rPr lang="en-US" altLang="zh-CN" sz="2200" b="1" dirty="0">
                <a:solidFill>
                  <a:srgbClr val="FF0000"/>
                </a:solidFill>
              </a:rPr>
              <a:t>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 dirty="0">
                <a:solidFill>
                  <a:srgbClr val="FF0000"/>
                </a:solidFill>
              </a:rPr>
              <a:t>    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 dirty="0">
                <a:solidFill>
                  <a:srgbClr val="FF0000"/>
                </a:solidFill>
              </a:rPr>
              <a:t>        if (e % 2 == 1)   r = b * r;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 dirty="0">
                <a:solidFill>
                  <a:srgbClr val="FF0000"/>
                </a:solidFill>
              </a:rPr>
              <a:t>        b = b * b;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 dirty="0">
                <a:solidFill>
                  <a:srgbClr val="FF0000"/>
                </a:solidFill>
              </a:rPr>
              <a:t>        e = e / 2;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 dirty="0">
                <a:solidFill>
                  <a:srgbClr val="FF0000"/>
                </a:solidFill>
              </a:rPr>
              <a:t>    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 dirty="0"/>
              <a:t>    </a:t>
            </a:r>
            <a:r>
              <a:rPr lang="en-US" altLang="zh-CN" sz="2200" b="1" dirty="0">
                <a:solidFill>
                  <a:srgbClr val="000066"/>
                </a:solidFill>
              </a:rPr>
              <a:t>//@assert e == 0;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 dirty="0"/>
              <a:t>    return r;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 dirty="0"/>
              <a:t>}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4876800" y="4572000"/>
            <a:ext cx="3429000" cy="73866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1" hangingPunct="1">
              <a:lnSpc>
                <a:spcPct val="150000"/>
              </a:lnSpc>
              <a:buNone/>
            </a:pPr>
            <a:r>
              <a:rPr lang="zh-CN" altLang="en-US" sz="2800" dirty="0">
                <a:solidFill>
                  <a:srgbClr val="FF0000"/>
                </a:solidFill>
              </a:rPr>
              <a:t>循环是否可以终止？</a:t>
            </a:r>
            <a:endParaRPr lang="en-US" altLang="zh-CN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2803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46BC5C8-C770-46BD-8AE6-F21DB8B5658A}" type="datetime1">
              <a:rPr lang="zh-CN" altLang="en-US"/>
              <a:pPr>
                <a:defRPr/>
              </a:pPr>
              <a:t>2026/3/4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919169-5CBF-4193-8BA4-AF3F89905ACA}" type="slidenum">
              <a:rPr lang="en-US" altLang="zh-CN"/>
              <a:pPr>
                <a:defRPr/>
              </a:pPr>
              <a:t>28</a:t>
            </a:fld>
            <a:endParaRPr lang="en-US" altLang="zh-CN"/>
          </a:p>
        </p:txBody>
      </p:sp>
      <p:sp>
        <p:nvSpPr>
          <p:cNvPr id="102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000099"/>
                </a:solidFill>
                <a:ea typeface="华文细黑" panose="02010600040101010101" pitchFamily="2" charset="-122"/>
              </a:rPr>
              <a:t>意想不到的事！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066800"/>
            <a:ext cx="7848600" cy="4819781"/>
          </a:xfrm>
          <a:noFill/>
        </p:spPr>
        <p:txBody>
          <a:bodyPr wrap="square">
            <a:spAutoFit/>
          </a:bodyPr>
          <a:lstStyle/>
          <a:p>
            <a:pPr eaLnBrk="1" hangingPunct="1"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% coin -d solution2e.c0</a:t>
            </a:r>
          </a:p>
          <a:p>
            <a:pPr eaLnBrk="1" hangingPunct="1"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Coin 0.2.3 "Penny" (r1478, Thu Jan 20 16:14:15 EST 2011)</a:t>
            </a:r>
          </a:p>
          <a:p>
            <a:pPr eaLnBrk="1" hangingPunct="1"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Type `#help' for help or `#quit' to exit.</a:t>
            </a:r>
          </a:p>
          <a:p>
            <a:pPr eaLnBrk="1" hangingPunct="1"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--&gt; f(2,30);</a:t>
            </a:r>
          </a:p>
          <a:p>
            <a:pPr eaLnBrk="1" hangingPunct="1"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1073741824 (</a:t>
            </a:r>
            <a:r>
              <a:rPr lang="en-US" altLang="zh-CN" sz="2400" b="1" dirty="0" err="1">
                <a:solidFill>
                  <a:schemeClr val="tx2"/>
                </a:solidFill>
              </a:rPr>
              <a:t>int</a:t>
            </a:r>
            <a:r>
              <a:rPr lang="en-US" altLang="zh-CN" sz="2400" b="1" dirty="0">
                <a:solidFill>
                  <a:schemeClr val="tx2"/>
                </a:solidFill>
              </a:rPr>
              <a:t>)</a:t>
            </a:r>
          </a:p>
          <a:p>
            <a:pPr eaLnBrk="1" hangingPunct="1"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--&gt; f(2,31);</a:t>
            </a:r>
          </a:p>
          <a:p>
            <a:pPr eaLnBrk="1" hangingPunct="1"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-2147483648 (</a:t>
            </a:r>
            <a:r>
              <a:rPr lang="en-US" altLang="zh-CN" sz="2400" b="1" dirty="0" err="1">
                <a:solidFill>
                  <a:schemeClr val="tx2"/>
                </a:solidFill>
              </a:rPr>
              <a:t>int</a:t>
            </a:r>
            <a:r>
              <a:rPr lang="en-US" altLang="zh-CN" sz="2400" b="1" dirty="0">
                <a:solidFill>
                  <a:schemeClr val="tx2"/>
                </a:solidFill>
              </a:rPr>
              <a:t>)</a:t>
            </a:r>
          </a:p>
          <a:p>
            <a:pPr eaLnBrk="1" hangingPunct="1"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--&gt; f(2,32);</a:t>
            </a:r>
          </a:p>
          <a:p>
            <a:pPr eaLnBrk="1" hangingPunct="1"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0 (</a:t>
            </a:r>
            <a:r>
              <a:rPr lang="en-US" altLang="zh-CN" sz="2400" b="1" dirty="0" err="1">
                <a:solidFill>
                  <a:schemeClr val="tx2"/>
                </a:solidFill>
              </a:rPr>
              <a:t>int</a:t>
            </a:r>
            <a:r>
              <a:rPr lang="en-US" altLang="zh-CN" sz="2400" b="1" dirty="0">
                <a:solidFill>
                  <a:schemeClr val="tx2"/>
                </a:solidFill>
              </a:rPr>
              <a:t>)</a:t>
            </a:r>
          </a:p>
          <a:p>
            <a:pPr eaLnBrk="1" hangingPunct="1"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--&gt;</a:t>
            </a:r>
          </a:p>
        </p:txBody>
      </p:sp>
      <p:sp>
        <p:nvSpPr>
          <p:cNvPr id="1024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endParaRPr lang="zh-CN" altLang="en-US" sz="1800">
              <a:solidFill>
                <a:srgbClr val="0000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9278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8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481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" dur="500" fill="hold"/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" dur="500" fill="hold"/>
                                        <p:tgtEl>
                                          <p:spTgt spid="48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0691F9B-A1AA-46CE-B2D4-18592B7344E5}" type="datetime1">
              <a:rPr lang="zh-CN" altLang="en-US"/>
              <a:pPr>
                <a:defRPr/>
              </a:pPr>
              <a:t>2026/3/4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849E1F-FE2B-4583-AAB8-FD0B652C5DD5}" type="slidenum">
              <a:rPr lang="en-US" altLang="zh-CN"/>
              <a:pPr>
                <a:defRPr/>
              </a:pPr>
              <a:t>29</a:t>
            </a:fld>
            <a:endParaRPr lang="en-US" altLang="zh-CN"/>
          </a:p>
        </p:txBody>
      </p:sp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78898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ea typeface="华文细黑" panose="02010600040101010101" pitchFamily="2" charset="-122"/>
              </a:rPr>
              <a:t>总结：约定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4987925"/>
          </a:xfrm>
        </p:spPr>
        <p:txBody>
          <a:bodyPr/>
          <a:lstStyle/>
          <a:p>
            <a:pPr eaLnBrk="1" hangingPunct="1"/>
            <a:r>
              <a:rPr lang="zh-CN" altLang="en-US" sz="2400" b="1" dirty="0"/>
              <a:t>用注释的形式来表达约定，我们用</a:t>
            </a:r>
            <a:r>
              <a:rPr lang="en-US" altLang="zh-CN" sz="2400" b="1" dirty="0"/>
              <a:t>//@</a:t>
            </a:r>
            <a:r>
              <a:rPr lang="zh-CN" altLang="en-US" sz="2400" b="1" dirty="0"/>
              <a:t>起头。如果用</a:t>
            </a:r>
            <a:r>
              <a:rPr lang="en-US" altLang="zh-CN" sz="2400" b="1" dirty="0"/>
              <a:t>-d</a:t>
            </a:r>
            <a:r>
              <a:rPr lang="zh-CN" altLang="en-US" sz="2400" b="1" dirty="0"/>
              <a:t>标志编译或者解释程序，当程序执行时检查这些注释。</a:t>
            </a:r>
          </a:p>
          <a:p>
            <a:pPr eaLnBrk="1" hangingPunct="1"/>
            <a:r>
              <a:rPr lang="en-US" altLang="zh-CN" sz="2400" b="1" dirty="0"/>
              <a:t>@requires</a:t>
            </a:r>
            <a:r>
              <a:rPr lang="zh-CN" altLang="en-US" sz="2400" b="1" dirty="0"/>
              <a:t>：函数的前提条件。它在函数体执行之前进行检查。</a:t>
            </a:r>
          </a:p>
          <a:p>
            <a:pPr eaLnBrk="1" hangingPunct="1"/>
            <a:r>
              <a:rPr lang="en-US" altLang="zh-CN" sz="2400" b="1" dirty="0"/>
              <a:t>@ensures</a:t>
            </a:r>
            <a:r>
              <a:rPr lang="zh-CN" altLang="en-US" sz="2400" b="1" dirty="0"/>
              <a:t>：函数的后置条件。它在函数执行之后检查。我们用 </a:t>
            </a:r>
            <a:r>
              <a:rPr lang="en-US" altLang="zh-CN" sz="2400" b="1" dirty="0"/>
              <a:t>\result </a:t>
            </a:r>
            <a:r>
              <a:rPr lang="zh-CN" altLang="en-US" sz="2400" b="1" dirty="0"/>
              <a:t>代表函数的返回值来强加一个条件在它上面。</a:t>
            </a:r>
          </a:p>
          <a:p>
            <a:pPr eaLnBrk="1" hangingPunct="1"/>
            <a:r>
              <a:rPr lang="en-US" altLang="zh-CN" sz="2400" b="1" dirty="0"/>
              <a:t>@</a:t>
            </a:r>
            <a:r>
              <a:rPr lang="en-US" altLang="zh-CN" sz="2400" b="1" dirty="0" err="1"/>
              <a:t>loop_invariant</a:t>
            </a:r>
            <a:r>
              <a:rPr lang="zh-CN" altLang="en-US" sz="2400" b="1" dirty="0"/>
              <a:t>：循环不变量。每次对循环条件进行判断之前被检查。</a:t>
            </a:r>
          </a:p>
          <a:p>
            <a:pPr eaLnBrk="1" hangingPunct="1"/>
            <a:r>
              <a:rPr lang="en-US" altLang="zh-CN" sz="2400" b="1" dirty="0"/>
              <a:t>@assert</a:t>
            </a:r>
            <a:r>
              <a:rPr lang="zh-CN" altLang="en-US" sz="2400" b="1" dirty="0"/>
              <a:t>：  断言。它像一个宣称一样，在程序执行过程中每次遇到它时，都要进行检查。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8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8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8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8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914ACF0-6773-4E7A-A197-38DDD5DD9471}" type="datetime1">
              <a:rPr lang="zh-CN" altLang="en-US"/>
              <a:pPr>
                <a:defRPr/>
              </a:pPr>
              <a:t>2026/3/4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44077BE-4A03-4CA4-A746-A82A1208B112}" type="slidenum">
              <a:rPr lang="en-US" altLang="zh-CN"/>
              <a:pPr>
                <a:defRPr/>
              </a:pPr>
              <a:t>30</a:t>
            </a:fld>
            <a:endParaRPr lang="en-US" altLang="zh-CN"/>
          </a:p>
        </p:txBody>
      </p:sp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86518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ea typeface="华文细黑" panose="02010600040101010101" pitchFamily="2" charset="-122"/>
              </a:rPr>
              <a:t>约定的重要性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4987925"/>
          </a:xfrm>
        </p:spPr>
        <p:txBody>
          <a:bodyPr/>
          <a:lstStyle/>
          <a:p>
            <a:pPr algn="just" eaLnBrk="1" hangingPunct="1">
              <a:spcAft>
                <a:spcPct val="20000"/>
              </a:spcAft>
            </a:pPr>
            <a:r>
              <a:rPr lang="zh-CN" altLang="en-US" sz="2600" b="1" dirty="0"/>
              <a:t>测试：约定代表函数的一种通用测试。约定谈论的是任意值的期望属性，而不是特殊的输入。</a:t>
            </a:r>
          </a:p>
          <a:p>
            <a:pPr algn="just" eaLnBrk="1" hangingPunct="1">
              <a:spcAft>
                <a:spcPct val="20000"/>
              </a:spcAft>
              <a:buNone/>
            </a:pPr>
            <a:r>
              <a:rPr lang="zh-CN" altLang="en-US" sz="2600" b="1" dirty="0"/>
              <a:t>	另一方面，如果我们用一组好的数据来进行测试，约定是非常有用的。因为约定能够确保不用会导致代码失败的值来执行，所以约定不会导致执行中止。</a:t>
            </a:r>
          </a:p>
          <a:p>
            <a:pPr algn="just" eaLnBrk="1" hangingPunct="1">
              <a:spcAft>
                <a:spcPct val="20000"/>
              </a:spcAft>
            </a:pPr>
            <a:r>
              <a:rPr lang="zh-CN" altLang="en-US" sz="2600" b="1" dirty="0"/>
              <a:t>推理：约定可以表达程序非常重要的属性，我们能够证明他们。最终，能在数学上验证程序的正确性。由于正确性是程序最重要的因素，因此约定是程序开发最重要的一个方面。不同形式的约定有不同的规则。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A8759C1-ED1F-43A8-9A75-80C343D32DF1}" type="datetime1">
              <a:rPr lang="zh-CN" altLang="en-US"/>
              <a:pPr>
                <a:defRPr/>
              </a:pPr>
              <a:t>2026/3/4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1E1D60A-EE29-4449-BEEB-E736B73BF666}" type="slidenum">
              <a:rPr lang="en-US" altLang="zh-CN"/>
              <a:pPr>
                <a:defRPr/>
              </a:pPr>
              <a:t>31</a:t>
            </a:fld>
            <a:endParaRPr lang="en-US" altLang="zh-CN"/>
          </a:p>
        </p:txBody>
      </p:sp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78898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ea typeface="华文细黑" panose="02010600040101010101" pitchFamily="2" charset="-122"/>
              </a:rPr>
              <a:t>作业题</a:t>
            </a:r>
          </a:p>
        </p:txBody>
      </p:sp>
      <p:sp>
        <p:nvSpPr>
          <p:cNvPr id="2151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  <a:spcAft>
                <a:spcPct val="20000"/>
              </a:spcAft>
            </a:pPr>
            <a:r>
              <a:rPr lang="zh-CN" altLang="en-US" sz="2800" b="1" dirty="0"/>
              <a:t>作业</a:t>
            </a:r>
            <a:r>
              <a:rPr lang="en-US" altLang="zh-CN" sz="2800" b="1" dirty="0"/>
              <a:t>1  </a:t>
            </a:r>
            <a:r>
              <a:rPr lang="zh-CN" altLang="en-US" sz="2800" b="1" dirty="0"/>
              <a:t>重写</a:t>
            </a:r>
            <a:r>
              <a:rPr lang="en-US" altLang="zh-CN" sz="2800" b="1" dirty="0"/>
              <a:t>POW</a:t>
            </a:r>
            <a:r>
              <a:rPr lang="zh-CN" altLang="en-US" sz="2800" b="1" dirty="0"/>
              <a:t>和</a:t>
            </a:r>
            <a:r>
              <a:rPr lang="en-US" altLang="zh-CN" sz="2800" b="1" dirty="0"/>
              <a:t>f</a:t>
            </a:r>
            <a:r>
              <a:rPr lang="zh-CN" altLang="en-US" sz="2800" b="1" dirty="0"/>
              <a:t>，使得当有溢出发生时产生一个出错提示，而不是默默地工作在模运算中。可以使用语句  </a:t>
            </a:r>
            <a:r>
              <a:rPr lang="en-US" altLang="zh-CN" sz="2800" b="1" dirty="0"/>
              <a:t>error("Overflow");   </a:t>
            </a:r>
            <a:r>
              <a:rPr lang="zh-CN" altLang="en-US" sz="2800" b="1" dirty="0"/>
              <a:t>来标志一个溢出。</a:t>
            </a:r>
          </a:p>
          <a:p>
            <a:pPr eaLnBrk="1" hangingPunct="1">
              <a:lnSpc>
                <a:spcPct val="120000"/>
              </a:lnSpc>
              <a:spcAft>
                <a:spcPct val="20000"/>
              </a:spcAft>
            </a:pPr>
            <a:r>
              <a:rPr lang="zh-CN" altLang="en-US" sz="2800" b="1" dirty="0"/>
              <a:t>作业</a:t>
            </a:r>
            <a:r>
              <a:rPr lang="en-US" altLang="zh-CN" sz="2800" b="1" dirty="0"/>
              <a:t>2  </a:t>
            </a:r>
            <a:r>
              <a:rPr lang="zh-CN" altLang="en-US" sz="2800" b="1" dirty="0"/>
              <a:t>为</a:t>
            </a:r>
            <a:r>
              <a:rPr lang="en-US" altLang="zh-CN" sz="2800" b="1" dirty="0"/>
              <a:t>f</a:t>
            </a:r>
            <a:r>
              <a:rPr lang="zh-CN" altLang="en-US" sz="2800" b="1" dirty="0"/>
              <a:t>找到一个输入，使得循环不变量在该输入下不成立： </a:t>
            </a:r>
          </a:p>
          <a:p>
            <a:pPr eaLnBrk="1" hangingPunct="1">
              <a:lnSpc>
                <a:spcPct val="120000"/>
              </a:lnSpc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zh-CN" altLang="en-US" sz="2800" b="1" dirty="0"/>
              <a:t>	</a:t>
            </a:r>
            <a:r>
              <a:rPr lang="en-US" altLang="zh-CN" sz="2800" b="1" dirty="0"/>
              <a:t>//@loop_invariant r * POW(</a:t>
            </a:r>
            <a:r>
              <a:rPr lang="en-US" altLang="zh-CN" sz="2800" b="1" dirty="0" err="1"/>
              <a:t>b,e</a:t>
            </a:r>
            <a:r>
              <a:rPr lang="en-US" altLang="zh-CN" sz="2800" b="1" dirty="0"/>
              <a:t>) == POW(</a:t>
            </a:r>
            <a:r>
              <a:rPr lang="en-US" altLang="zh-CN" sz="2800" b="1" dirty="0" err="1"/>
              <a:t>x,y</a:t>
            </a:r>
            <a:r>
              <a:rPr lang="en-US" altLang="zh-CN" sz="2800" b="1" dirty="0"/>
              <a:t>);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Edge 9">
      <a:dk1>
        <a:srgbClr val="000000"/>
      </a:dk1>
      <a:lt1>
        <a:srgbClr val="FFFFFF"/>
      </a:lt1>
      <a:dk2>
        <a:srgbClr val="003399"/>
      </a:dk2>
      <a:lt2>
        <a:srgbClr val="666699"/>
      </a:lt2>
      <a:accent1>
        <a:srgbClr val="009999"/>
      </a:accent1>
      <a:accent2>
        <a:srgbClr val="4C6D4E"/>
      </a:accent2>
      <a:accent3>
        <a:srgbClr val="FFFFFF"/>
      </a:accent3>
      <a:accent4>
        <a:srgbClr val="000000"/>
      </a:accent4>
      <a:accent5>
        <a:srgbClr val="AACACA"/>
      </a:accent5>
      <a:accent6>
        <a:srgbClr val="446246"/>
      </a:accent6>
      <a:hlink>
        <a:srgbClr val="4C6D80"/>
      </a:hlink>
      <a:folHlink>
        <a:srgbClr val="B2B2B2"/>
      </a:folHlink>
    </a:clrScheme>
    <a:fontScheme name="Edge">
      <a:majorFont>
        <a:latin typeface="Garamond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20000"/>
          </a:spcAft>
          <a:buClr>
            <a:schemeClr val="accent1"/>
          </a:buClr>
          <a:buSzPct val="65000"/>
          <a:buFont typeface="Wingdings" panose="05000000000000000000" pitchFamily="2" charset="2"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rgbClr val="000099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20000"/>
          </a:spcAft>
          <a:buClr>
            <a:schemeClr val="accent1"/>
          </a:buClr>
          <a:buSzPct val="65000"/>
          <a:buFont typeface="Wingdings" panose="05000000000000000000" pitchFamily="2" charset="2"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rgbClr val="000099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Edge</Template>
  <TotalTime>7265</TotalTime>
  <Words>2960</Words>
  <Application>Microsoft Office PowerPoint</Application>
  <PresentationFormat>全屏显示(4:3)</PresentationFormat>
  <Paragraphs>548</Paragraphs>
  <Slides>31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1" baseType="lpstr">
      <vt:lpstr>黑体</vt:lpstr>
      <vt:lpstr>华文细黑</vt:lpstr>
      <vt:lpstr>宋体</vt:lpstr>
      <vt:lpstr>Arial</vt:lpstr>
      <vt:lpstr>Calibri</vt:lpstr>
      <vt:lpstr>Garamond</vt:lpstr>
      <vt:lpstr>Times New Roman</vt:lpstr>
      <vt:lpstr>Wingdings</vt:lpstr>
      <vt:lpstr>Edge</vt:lpstr>
      <vt:lpstr>Equation.3</vt:lpstr>
      <vt:lpstr>Lecture 1 Contracts 第1讲 约定</vt:lpstr>
      <vt:lpstr>什么是命令式程序设计？</vt:lpstr>
      <vt:lpstr>概述</vt:lpstr>
      <vt:lpstr>一个神秘的程序</vt:lpstr>
      <vt:lpstr>对函数功能的猜测</vt:lpstr>
      <vt:lpstr>对函数功能的猜测</vt:lpstr>
      <vt:lpstr>对函数功能的猜测</vt:lpstr>
      <vt:lpstr>对函数功能的猜测</vt:lpstr>
      <vt:lpstr>寻找循环不变量</vt:lpstr>
      <vt:lpstr>寻找循环不变量</vt:lpstr>
      <vt:lpstr>循环不变量的证明</vt:lpstr>
      <vt:lpstr>循环不变量隐含着函数后置条件</vt:lpstr>
      <vt:lpstr>循环是否可以终止？</vt:lpstr>
      <vt:lpstr>反例</vt:lpstr>
      <vt:lpstr>强加一个前提条件</vt:lpstr>
      <vt:lpstr>制定一个后置条件</vt:lpstr>
      <vt:lpstr>后置条件：用一个特殊变量\result来表示函数的返回值</vt:lpstr>
      <vt:lpstr>动态检查约定</vt:lpstr>
      <vt:lpstr>动态检查约定：换变量名</vt:lpstr>
      <vt:lpstr>动态检查约定：</vt:lpstr>
      <vt:lpstr>归纳循环不变量：当e为奇数的情况</vt:lpstr>
      <vt:lpstr>PowerPoint 演示文稿</vt:lpstr>
      <vt:lpstr>PowerPoint 演示文稿</vt:lpstr>
      <vt:lpstr>动态检查约定：</vt:lpstr>
      <vt:lpstr>PowerPoint 演示文稿</vt:lpstr>
      <vt:lpstr>PowerPoint 演示文稿</vt:lpstr>
      <vt:lpstr>PowerPoint 演示文稿</vt:lpstr>
      <vt:lpstr>意想不到的事！</vt:lpstr>
      <vt:lpstr>总结：约定</vt:lpstr>
      <vt:lpstr>约定的重要性</vt:lpstr>
      <vt:lpstr>作业题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Teacher</dc:creator>
  <cp:lastModifiedBy>Aaron</cp:lastModifiedBy>
  <cp:revision>68</cp:revision>
  <cp:lastPrinted>1601-01-01T00:00:00Z</cp:lastPrinted>
  <dcterms:created xsi:type="dcterms:W3CDTF">2014-11-05T12:07:07Z</dcterms:created>
  <dcterms:modified xsi:type="dcterms:W3CDTF">2026-03-04T09:06:33Z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