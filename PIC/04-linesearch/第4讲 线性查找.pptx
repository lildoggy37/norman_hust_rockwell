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00"/>
    <a:srgbClr val="FF0000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8" autoAdjust="0"/>
    <p:restoredTop sz="94604" autoAdjust="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480F8A9-D376-4753-9D56-26605955AE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914400 h 1000"/>
              <a:gd name="T2" fmla="*/ 0 w 1000"/>
              <a:gd name="T3" fmla="*/ 0 h 1000"/>
              <a:gd name="T4" fmla="*/ 79248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623175" cy="17526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 b="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A40AB11-9A17-4707-9C0D-80674D9862E7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smtClean="0"/>
            </a:lvl1pPr>
          </a:lstStyle>
          <a:p>
            <a:pPr>
              <a:defRPr/>
            </a:pPr>
            <a:fld id="{2F0C19E9-D87C-4543-8158-60A902D539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57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03A09-0E0D-4735-B73C-803E0B0F7B30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EB8DD5-D9A1-45F2-8450-7A7C06C8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7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97BFD3-92F8-4E0F-AFB8-AFDD2CCE6626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35805-1E01-4C6D-A724-0DB600B56E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0658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BC05D-137F-4BED-BC13-F476223C5ABE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59599-D4F2-4648-90C0-0EF488851D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69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165515-9C50-462C-9A00-2EB8ADC08371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E0909-052B-4914-AC9F-B15C299C7F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7461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D7BC83-FD2B-46A7-ACEF-56825B3D4721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063D19-56BE-4406-BBE5-2750ED3AE5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9461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59448B-431A-4281-B9DD-61D39EDC4DF8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C24C1-CC8D-4539-BD90-5EF0BCE419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258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762671-6F7F-49D4-88B9-D3EF10F2A8A9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03D23B-F8EC-48F5-A080-E9328A4F6C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1561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04706-8C2C-429D-B04F-3C5CBE026DD1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32BDC-7EC7-4934-A67E-66769FD36C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085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42955-E6C3-4462-9E88-E132896C9B88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527325-4C3D-460A-89CE-9E36D25BAA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0381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FBB1F1-1F10-419C-81F9-FA14CEBB9DC7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54239-3174-452C-B0B5-C3E3D22A5C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619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 smtClean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4AD8D85E-2369-40B9-AE96-5E2E10B5210E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 smtClean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 smtClean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9982AE07-812B-46A3-87F5-8C6C0CA460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609600 h 1000"/>
              <a:gd name="T2" fmla="*/ 0 w 1000"/>
              <a:gd name="T3" fmla="*/ 0 h 1000"/>
              <a:gd name="T4" fmla="*/ 82296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A12766A-B346-44C6-AB8C-D20867FE38A3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1495AB-8976-43EA-A95B-89CF1CD7CE64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620000" cy="22288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Lecture </a:t>
            </a:r>
            <a:r>
              <a:rPr lang="en-US" altLang="zh-CN" dirty="0"/>
              <a:t>4</a:t>
            </a:r>
            <a:r>
              <a:rPr lang="en-US" altLang="en-US" dirty="0"/>
              <a:t> Linear Search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讲 线性查找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2133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>
                <a:ea typeface="华文细黑" panose="02010600040101010101" pitchFamily="2" charset="-122"/>
              </a:rPr>
              <a:t>华中科技大学计算机学院</a:t>
            </a:r>
          </a:p>
          <a:p>
            <a:pPr eaLnBrk="1" hangingPunct="1">
              <a:defRPr/>
            </a:pPr>
            <a:endParaRPr lang="zh-CN" altLang="en-US" sz="3600" b="1">
              <a:ea typeface="华文细黑" panose="02010600040101010101" pitchFamily="2" charset="-122"/>
            </a:endParaRPr>
          </a:p>
          <a:p>
            <a:pPr eaLnBrk="1" hangingPunct="1">
              <a:defRPr/>
            </a:pPr>
            <a:r>
              <a:rPr lang="zh-CN" altLang="en-US" sz="3600" b="1">
                <a:ea typeface="华文细黑" panose="02010600040101010101" pitchFamily="2" charset="-122"/>
              </a:rPr>
              <a:t>李开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2CE283D-4352-40E7-BB79-CDF73B502A31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869A9F-7C63-487D-A045-C9AFA54FC7CC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1 </a:t>
            </a:r>
            <a:r>
              <a:rPr lang="zh-CN" altLang="en-US"/>
              <a:t>引言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400"/>
              <a:t>计算思维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/>
              <a:t>	</a:t>
            </a:r>
            <a:r>
              <a:rPr lang="en-US" altLang="zh-CN" sz="2400"/>
              <a:t>(1) </a:t>
            </a:r>
            <a:r>
              <a:rPr lang="zh-CN" altLang="en-US" sz="2400"/>
              <a:t>开发约定（前提条件、后置条件、断言和循环不变性）来创建安全和正确的命令式程序。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/>
              <a:t>	</a:t>
            </a:r>
            <a:r>
              <a:rPr lang="en-US" altLang="zh-CN" sz="2400"/>
              <a:t>(2) </a:t>
            </a:r>
            <a:r>
              <a:rPr lang="zh-CN" altLang="en-US" sz="2400"/>
              <a:t>利用有序性</a:t>
            </a:r>
            <a:r>
              <a:rPr lang="en-US" altLang="zh-CN" sz="2400"/>
              <a:t>(</a:t>
            </a:r>
            <a:r>
              <a:rPr lang="zh-CN" altLang="en-US" sz="2400"/>
              <a:t>已排序数据</a:t>
            </a:r>
            <a:r>
              <a:rPr lang="en-US" altLang="zh-CN" sz="2400"/>
              <a:t>) </a:t>
            </a:r>
            <a:r>
              <a:rPr lang="zh-CN" altLang="en-US" sz="2400"/>
              <a:t>来解决问题。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/>
              <a:t>	</a:t>
            </a:r>
            <a:r>
              <a:rPr lang="en-US" altLang="zh-CN" sz="2400"/>
              <a:t>(3) </a:t>
            </a:r>
            <a:r>
              <a:rPr lang="zh-CN" altLang="en-US" sz="2400"/>
              <a:t>识别规范和实现之间的区别。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/>
              <a:t>算法和数据结构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/>
              <a:t>	描述线性查找。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/>
              <a:t>编程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/>
              <a:t>	我们在这一讲将练习深度编程。识别、描述和有效地使用“短路”布尔运算。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2D4A341-3DF7-45A9-966A-5B72BAED3D7B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F1964C-D503-4A39-BCB7-6C93AF5EF6FE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2 </a:t>
            </a:r>
            <a:r>
              <a:rPr lang="zh-CN" altLang="en-US"/>
              <a:t>无序数组里的线性查找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4911725"/>
          </a:xfrm>
        </p:spPr>
        <p:txBody>
          <a:bodyPr/>
          <a:lstStyle/>
          <a:p>
            <a:pPr eaLnBrk="1" hangingPunct="1"/>
            <a:r>
              <a:rPr lang="zh-CN" altLang="en-US" sz="2400"/>
              <a:t>判断元素</a:t>
            </a:r>
            <a:r>
              <a:rPr lang="en-US" altLang="zh-CN" sz="2400"/>
              <a:t>x</a:t>
            </a:r>
            <a:r>
              <a:rPr lang="zh-CN" altLang="en-US" sz="2400"/>
              <a:t>是否在数组</a:t>
            </a:r>
            <a:r>
              <a:rPr lang="en-US" altLang="zh-CN" sz="2400"/>
              <a:t>A</a:t>
            </a:r>
            <a:r>
              <a:rPr lang="zh-CN" altLang="en-US" sz="2400"/>
              <a:t>中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</a:t>
            </a:r>
            <a:r>
              <a:rPr lang="en-US" altLang="zh-CN" sz="2400"/>
              <a:t>bool is_in(int x, int[ ] A, int lower, int upper)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en-US" altLang="zh-CN" sz="2400">
                <a:solidFill>
                  <a:srgbClr val="FF0000"/>
                </a:solidFill>
              </a:rPr>
              <a:t>//@requires 0 &lt;= lower &amp;&amp; lower &lt;= upper &amp;&amp; upper &lt;= \length(A);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  for (int i = lower; i &lt; upper; i++)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    </a:t>
            </a:r>
            <a:r>
              <a:rPr lang="en-US" altLang="zh-CN" sz="2400">
                <a:solidFill>
                  <a:srgbClr val="FF0000"/>
                </a:solidFill>
              </a:rPr>
              <a:t>//@loop_invariant lower &lt;= i &amp;&amp; i &lt;= upper;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   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      if (A[i] == x) return true;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  return false;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90600" y="1828800"/>
            <a:ext cx="7162800" cy="138499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是否可以增加循环不变量？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//@</a:t>
            </a:r>
            <a:r>
              <a:rPr lang="en-US" altLang="zh-CN" sz="2800" dirty="0" err="1"/>
              <a:t>loop_invariant</a:t>
            </a:r>
            <a:r>
              <a:rPr lang="en-US" altLang="zh-CN" sz="2800" dirty="0"/>
              <a:t> !</a:t>
            </a:r>
            <a:r>
              <a:rPr lang="en-US" altLang="zh-CN" sz="2800" dirty="0" err="1"/>
              <a:t>is_in</a:t>
            </a:r>
            <a:r>
              <a:rPr lang="en-US" altLang="zh-CN" sz="2800" dirty="0"/>
              <a:t>(x, A, lower,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);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9E19921-BB39-4145-8A57-B16D2163FF5C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728808-6867-449E-AE86-B7E2E14EA8F1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3 </a:t>
            </a:r>
            <a:r>
              <a:rPr lang="zh-CN" altLang="en-US"/>
              <a:t>有序数组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bool </a:t>
            </a:r>
            <a:r>
              <a:rPr lang="en-US" altLang="zh-CN" sz="2400" dirty="0" err="1"/>
              <a:t>is_sorted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[ ] A,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lower,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upper)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FF0000"/>
                </a:solidFill>
              </a:rPr>
              <a:t>//@requires 0 &lt;= lower &amp;&amp; lower &lt;= upper &amp;&amp; upper &lt;= \length(A);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{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  for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lower;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 upper-1;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    </a:t>
            </a:r>
            <a:r>
              <a:rPr lang="en-US" altLang="zh-CN" sz="2400" dirty="0">
                <a:solidFill>
                  <a:srgbClr val="FF0000"/>
                </a:solidFill>
              </a:rPr>
              <a:t>//@</a:t>
            </a:r>
            <a:r>
              <a:rPr lang="en-US" altLang="zh-CN" sz="2400" dirty="0" err="1">
                <a:solidFill>
                  <a:srgbClr val="FF0000"/>
                </a:solidFill>
              </a:rPr>
              <a:t>loop_invariant</a:t>
            </a:r>
            <a:r>
              <a:rPr lang="en-US" altLang="zh-CN" sz="2400" dirty="0">
                <a:solidFill>
                  <a:srgbClr val="FF0000"/>
                </a:solidFill>
              </a:rPr>
              <a:t> lower &lt;= 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;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    if (!(A[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 &lt;= A[i+1])) return false;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  return true;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72000" y="4648200"/>
            <a:ext cx="3657600" cy="138499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err="1"/>
              <a:t>i</a:t>
            </a:r>
            <a:r>
              <a:rPr lang="en-US" altLang="zh-CN" sz="2800" dirty="0"/>
              <a:t>&lt;=upper-1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是循环不变量吗？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9E19921-BB39-4145-8A57-B16D2163FF5C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728808-6867-449E-AE86-B7E2E14EA8F1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3 </a:t>
            </a:r>
            <a:r>
              <a:rPr lang="zh-CN" altLang="en-US" dirty="0"/>
              <a:t>有序数组（续）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bool </a:t>
            </a:r>
            <a:r>
              <a:rPr lang="en-US" altLang="zh-CN" sz="2400" dirty="0" err="1"/>
              <a:t>is_sorted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[ ] A,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lower,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upper)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FF0000"/>
                </a:solidFill>
              </a:rPr>
              <a:t>//@requires 0 &lt;= lower &amp;&amp; lower &lt;= upper &amp;&amp; upper &lt;= \length(A);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{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  for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lower;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 upper-1;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    </a:t>
            </a:r>
            <a:r>
              <a:rPr lang="en-US" altLang="zh-CN" sz="2400" dirty="0">
                <a:solidFill>
                  <a:srgbClr val="FF0000"/>
                </a:solidFill>
              </a:rPr>
              <a:t>//@</a:t>
            </a:r>
            <a:r>
              <a:rPr lang="en-US" altLang="zh-CN" sz="2400" dirty="0" err="1">
                <a:solidFill>
                  <a:srgbClr val="FF0000"/>
                </a:solidFill>
              </a:rPr>
              <a:t>loop_invariant</a:t>
            </a:r>
            <a:r>
              <a:rPr lang="en-US" altLang="zh-CN" sz="2400" dirty="0">
                <a:solidFill>
                  <a:srgbClr val="FF0000"/>
                </a:solidFill>
              </a:rPr>
              <a:t> lower &lt;= 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;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    if (!(A[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 &lt;= A[i+1])) return false;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  return true;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dirty="0"/>
              <a:t>	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72000" y="4648200"/>
            <a:ext cx="3657600" cy="138499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A[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 &lt;= A[i+1]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存在越界可能吗？</a:t>
            </a:r>
          </a:p>
        </p:txBody>
      </p:sp>
    </p:spTree>
    <p:extLst>
      <p:ext uri="{BB962C8B-B14F-4D97-AF65-F5344CB8AC3E}">
        <p14:creationId xmlns:p14="http://schemas.microsoft.com/office/powerpoint/2010/main" val="245469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FECA605-545E-4FEF-8C98-7367AC94ED24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26ED2-FD71-4039-AE7A-234F377728D2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有序数组里的线性查找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int search(int x, int[ ] A, int n)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en-US" altLang="zh-CN" sz="2400">
                <a:solidFill>
                  <a:srgbClr val="FF0000"/>
                </a:solidFill>
              </a:rPr>
              <a:t>//@requires 0 &lt;= n &amp;&amp; n &lt;= \length(A);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	//@requires is_sorted(A, 0, n);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	/*@ensures (\result == -1 &amp;&amp; !is_in(x, A, 0, n))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	|| ((0 &lt;= \result &amp;&amp; \result &lt; n) &amp;&amp; A[\result] == x);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	@*/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  for (int i = 0; i &lt; n; i++)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    </a:t>
            </a:r>
            <a:r>
              <a:rPr lang="en-US" altLang="zh-CN" sz="2400">
                <a:solidFill>
                  <a:srgbClr val="FF0000"/>
                </a:solidFill>
              </a:rPr>
              <a:t>//@loop_invariant 0 &lt;= i &amp;&amp; i &lt;= n;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    if (A[i] == x) return i;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  return -1;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26E42CF-1767-40A8-9513-A7C4D9278918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F4EB85-0313-4D2C-B687-C519BC64DE69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有序数组里的线性查找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	</a:t>
            </a:r>
            <a:r>
              <a:rPr lang="zh-CN" altLang="en-US" sz="2200"/>
              <a:t>以下程序有个错误：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	</a:t>
            </a:r>
            <a:r>
              <a:rPr lang="en-US" altLang="zh-CN" sz="2200"/>
              <a:t>int search(int x, int[ ] A, int n)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	</a:t>
            </a:r>
            <a:r>
              <a:rPr lang="en-US" altLang="zh-CN" sz="2200">
                <a:solidFill>
                  <a:srgbClr val="FF0000"/>
                </a:solidFill>
              </a:rPr>
              <a:t>//@requires 0 &lt;= n &amp;&amp; n &lt;= \length(A);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rgbClr val="FF0000"/>
                </a:solidFill>
              </a:rPr>
              <a:t>	//@requires is_sorted(A,0,n);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rgbClr val="FF0000"/>
                </a:solidFill>
              </a:rPr>
              <a:t>	/*@ensures (-1 == \result &amp;&amp; !is_in(x, A, 0, n))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rgbClr val="FF0000"/>
                </a:solidFill>
              </a:rPr>
              <a:t>	|| ((0 &lt;= \result &amp;&amp; \result &lt; n) &amp;&amp; A[\result] == x);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rgbClr val="FF0000"/>
                </a:solidFill>
              </a:rPr>
              <a:t>	@*/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	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	  for (int i = 0; A[i] &lt;= x &amp;&amp; i &lt; n; i++)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	    </a:t>
            </a:r>
            <a:r>
              <a:rPr lang="en-US" altLang="zh-CN" sz="2200">
                <a:solidFill>
                  <a:srgbClr val="FF0000"/>
                </a:solidFill>
              </a:rPr>
              <a:t>//@loop_invariant 0 &lt;= i &amp;&amp; i &lt;= n;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	    if (A[i] == x) return i;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	  return -1;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	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038600" y="5181600"/>
            <a:ext cx="4114800" cy="73866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程序中隐藏着一个错误！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7CB5453-890B-4AC0-A3F4-1F6900A009C2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9A8A19-4395-47B9-A3F0-C9670202094C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有序数组里的线性查找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	</a:t>
            </a:r>
            <a:r>
              <a:rPr lang="zh-CN" altLang="en-US" sz="2200"/>
              <a:t>更正错误后：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	</a:t>
            </a:r>
            <a:r>
              <a:rPr lang="en-US" altLang="zh-CN" sz="2100"/>
              <a:t>int search(int x, int[ ] A, int n)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</a:t>
            </a:r>
            <a:r>
              <a:rPr lang="en-US" altLang="zh-CN" sz="2100">
                <a:solidFill>
                  <a:srgbClr val="FF0000"/>
                </a:solidFill>
              </a:rPr>
              <a:t>//@requires 0 &lt;= n &amp;&amp; n &lt;= \length(A);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rgbClr val="FF0000"/>
                </a:solidFill>
              </a:rPr>
              <a:t>	//@requires is_sorted(A,0,n);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rgbClr val="FF0000"/>
                </a:solidFill>
              </a:rPr>
              <a:t>	/*@ensures (-1 == \result &amp;&amp; !is_in(x, A, 0, n))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rgbClr val="FF0000"/>
                </a:solidFill>
              </a:rPr>
              <a:t>	|| ((0 &lt;= \result &amp;&amp; \result &lt; n) &amp;&amp; A[\result] == x);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rgbClr val="FF0000"/>
                </a:solidFill>
              </a:rPr>
              <a:t>	@*/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for (int i = 0; i &lt; n &amp;&amp; A[i] &lt;= x; i++)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</a:t>
            </a:r>
            <a:r>
              <a:rPr lang="en-US" altLang="zh-CN" sz="2100">
                <a:solidFill>
                  <a:srgbClr val="FF0000"/>
                </a:solidFill>
              </a:rPr>
              <a:t>//@loop_invariant 0 &lt;= i &amp;&amp; i &lt;= n;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if (A[i] == x) return i;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return -1;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EE7E5FF-F4A0-4E1A-BE5E-CD0D54FCA0ED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B0456C-CD4F-4E40-AE03-A63D68E3CAF1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有序数组里的线性查找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1403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	</a:t>
            </a:r>
            <a:r>
              <a:rPr lang="en-US" altLang="zh-CN" sz="2100"/>
              <a:t>int search(int x, int[ ] A, int n)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</a:t>
            </a:r>
            <a:r>
              <a:rPr lang="en-US" altLang="zh-CN" sz="2100">
                <a:solidFill>
                  <a:srgbClr val="FF0000"/>
                </a:solidFill>
              </a:rPr>
              <a:t>//@requires 0 &lt;= n &amp;&amp; n &lt;= \length(A);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rgbClr val="FF0000"/>
                </a:solidFill>
              </a:rPr>
              <a:t>	//@requires is_sorted(A,0,n);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rgbClr val="FF0000"/>
                </a:solidFill>
              </a:rPr>
              <a:t>	/*@ensures (-1 == \result &amp;&amp; !is_in(x, A, 0, n))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rgbClr val="FF0000"/>
                </a:solidFill>
              </a:rPr>
              <a:t>	|| ((0 &lt;= \result &amp;&amp; \result &lt; n) &amp;&amp; A[\result] == x);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rgbClr val="FF0000"/>
                </a:solidFill>
              </a:rPr>
              <a:t>	@*/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for (int i = 0; i &lt; n; i++)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</a:t>
            </a:r>
            <a:r>
              <a:rPr lang="en-US" altLang="zh-CN" sz="2100">
                <a:solidFill>
                  <a:srgbClr val="FF0000"/>
                </a:solidFill>
              </a:rPr>
              <a:t>//@loop_invariant 0 &lt;= i &amp;&amp; i &lt;= n;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  if (A[i] == x) return i;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  else if (A[i] &gt; x) return -1;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return -1;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AC0B67E-D406-4D17-850F-A0C3E9527FB6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63880-61B6-411F-8510-9C87F9C0E6D2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有序数组里的线性查找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1403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int search(int x, int[] A, int n)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en-US" altLang="zh-CN" sz="2000">
                <a:solidFill>
                  <a:srgbClr val="FF0000"/>
                </a:solidFill>
              </a:rPr>
              <a:t>//@requires 0 &lt;= n &amp;&amp; n &lt;= \length(A);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FF0000"/>
                </a:solidFill>
              </a:rPr>
              <a:t>	//@requires is_sorted(A,0,n);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FF0000"/>
                </a:solidFill>
              </a:rPr>
              <a:t>	/*@ensures (-1 == \result &amp;&amp; !is_in(x, A, 0, n))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FF0000"/>
                </a:solidFill>
              </a:rPr>
              <a:t>	|| ((0 &lt;= \result &amp;&amp; \result &lt; n) &amp;&amp; A[\result] == x);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FF0000"/>
                </a:solidFill>
              </a:rPr>
              <a:t>	@*/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for (int i = 0; i &lt; n; i++)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  </a:t>
            </a:r>
            <a:r>
              <a:rPr lang="en-US" altLang="zh-CN" sz="2000">
                <a:solidFill>
                  <a:srgbClr val="FF0000"/>
                </a:solidFill>
              </a:rPr>
              <a:t>//@loop_invariant 0 &lt;= i &amp;&amp; i &lt;= n;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FF0000"/>
                </a:solidFill>
              </a:rPr>
              <a:t>	    //@loop_invariant i == 0 || A[i-1] &lt; x;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 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    if (A[i] == x) return i;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    else if (A[i] &gt; x) return -1;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    </a:t>
            </a:r>
            <a:r>
              <a:rPr lang="en-US" altLang="zh-CN" sz="2000">
                <a:solidFill>
                  <a:srgbClr val="FF0000"/>
                </a:solidFill>
              </a:rPr>
              <a:t>//@assert A[i] &lt; x;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return -1;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1D7271C-22C8-47F5-BDEC-6BE25FC9056E}" type="datetime1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53FDD9-AADE-4B79-9FED-3CCCB50DD068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5 </a:t>
            </a:r>
            <a:r>
              <a:rPr lang="zh-CN" altLang="en-US"/>
              <a:t>分析操作步数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最坏情况下，线性查找需要循环执行</a:t>
            </a:r>
            <a:r>
              <a:rPr lang="en-US" altLang="zh-CN"/>
              <a:t>n</a:t>
            </a:r>
            <a:r>
              <a:rPr lang="zh-CN" altLang="en-US"/>
              <a:t>次，</a:t>
            </a:r>
            <a:r>
              <a:rPr lang="en-US" altLang="zh-CN"/>
              <a:t>n</a:t>
            </a:r>
            <a:r>
              <a:rPr lang="zh-CN" altLang="en-US"/>
              <a:t>是给定边界。除了最后一次</a:t>
            </a:r>
            <a:r>
              <a:rPr lang="en-US" altLang="zh-CN"/>
              <a:t>, </a:t>
            </a:r>
            <a:r>
              <a:rPr lang="zh-CN" altLang="en-US"/>
              <a:t>每次迭代中我们执行</a:t>
            </a:r>
            <a:r>
              <a:rPr lang="en-US" altLang="zh-CN"/>
              <a:t>3</a:t>
            </a:r>
            <a:r>
              <a:rPr lang="zh-CN" altLang="en-US"/>
              <a:t>次比较操作：</a:t>
            </a:r>
            <a:r>
              <a:rPr lang="en-US" altLang="zh-CN"/>
              <a:t>i&lt;n</a:t>
            </a:r>
            <a:r>
              <a:rPr lang="zh-CN" altLang="en-US"/>
              <a:t>，</a:t>
            </a:r>
            <a:r>
              <a:rPr lang="en-US" altLang="zh-CN"/>
              <a:t>A[i]==x</a:t>
            </a:r>
            <a:r>
              <a:rPr lang="zh-CN" altLang="en-US"/>
              <a:t>和</a:t>
            </a:r>
            <a:r>
              <a:rPr lang="en-US" altLang="zh-CN"/>
              <a:t>A[i]&gt;x</a:t>
            </a:r>
            <a:r>
              <a:rPr lang="zh-CN" altLang="en-US"/>
              <a:t>。因此，在最坏情况下，比较操作次数是</a:t>
            </a:r>
            <a:r>
              <a:rPr lang="en-US" altLang="zh-CN"/>
              <a:t>3*n</a:t>
            </a:r>
            <a:r>
              <a:rPr lang="zh-CN" altLang="en-US"/>
              <a:t>。</a:t>
            </a:r>
          </a:p>
          <a:p>
            <a:pPr eaLnBrk="1" hangingPunct="1"/>
            <a:r>
              <a:rPr lang="zh-CN" altLang="en-US"/>
              <a:t>我们可以这样表述，输入大小为</a:t>
            </a:r>
            <a:r>
              <a:rPr lang="en-US" altLang="zh-CN"/>
              <a:t>n</a:t>
            </a:r>
            <a:r>
              <a:rPr lang="zh-CN" altLang="en-US"/>
              <a:t>的数组，它的运行时间是线性的。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华文细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6588</TotalTime>
  <Words>1248</Words>
  <Application>Microsoft Office PowerPoint</Application>
  <PresentationFormat>全屏显示(4:3)</PresentationFormat>
  <Paragraphs>161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华文细黑</vt:lpstr>
      <vt:lpstr>宋体</vt:lpstr>
      <vt:lpstr>Arial</vt:lpstr>
      <vt:lpstr>Garamond</vt:lpstr>
      <vt:lpstr>Wingdings</vt:lpstr>
      <vt:lpstr>Edge</vt:lpstr>
      <vt:lpstr>Lecture 4 Linear Search 第4讲 线性查找</vt:lpstr>
      <vt:lpstr>1 引言</vt:lpstr>
      <vt:lpstr>2 无序数组里的线性查找</vt:lpstr>
      <vt:lpstr>3 有序数组</vt:lpstr>
      <vt:lpstr>3 有序数组（续）</vt:lpstr>
      <vt:lpstr>4 有序数组里的线性查找</vt:lpstr>
      <vt:lpstr>4 有序数组里的线性查找(续)</vt:lpstr>
      <vt:lpstr>4 有序数组里的线性查找(续)</vt:lpstr>
      <vt:lpstr>4 有序数组里的线性查找(续)</vt:lpstr>
      <vt:lpstr>4 有序数组里的线性查找(续)</vt:lpstr>
      <vt:lpstr>5 分析操作步数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Aaron</cp:lastModifiedBy>
  <cp:revision>71</cp:revision>
  <cp:lastPrinted>1601-01-01T00:00:00Z</cp:lastPrinted>
  <dcterms:created xsi:type="dcterms:W3CDTF">2014-11-05T12:07:07Z</dcterms:created>
  <dcterms:modified xsi:type="dcterms:W3CDTF">2026-03-11T03:47:52Z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