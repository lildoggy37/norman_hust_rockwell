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3"/>
    <p:sldId id="919" r:id="rId4"/>
    <p:sldId id="1017" r:id="rId5"/>
    <p:sldId id="949" r:id="rId6"/>
    <p:sldId id="1013" r:id="rId7"/>
    <p:sldId id="1014" r:id="rId8"/>
    <p:sldId id="1012" r:id="rId9"/>
    <p:sldId id="1007" r:id="rId10"/>
    <p:sldId id="1009" r:id="rId11"/>
    <p:sldId id="1010" r:id="rId12"/>
    <p:sldId id="1015" r:id="rId13"/>
    <p:sldId id="1008" r:id="rId14"/>
    <p:sldId id="1011" r:id="rId15"/>
    <p:sldId id="1016" r:id="rId16"/>
    <p:sldId id="1028" r:id="rId17"/>
    <p:sldId id="1034" r:id="rId18"/>
    <p:sldId id="1029" r:id="rId19"/>
    <p:sldId id="1018" r:id="rId20"/>
    <p:sldId id="1019" r:id="rId21"/>
    <p:sldId id="1020" r:id="rId22"/>
    <p:sldId id="1021" r:id="rId23"/>
    <p:sldId id="1036" r:id="rId24"/>
    <p:sldId id="1022" r:id="rId25"/>
    <p:sldId id="1023" r:id="rId26"/>
    <p:sldId id="1024" r:id="rId27"/>
    <p:sldId id="1025" r:id="rId28"/>
    <p:sldId id="1026" r:id="rId29"/>
    <p:sldId id="1027" r:id="rId30"/>
    <p:sldId id="1031" r:id="rId31"/>
    <p:sldId id="1032" r:id="rId32"/>
    <p:sldId id="1033" r:id="rId33"/>
    <p:sldId id="1030" r:id="rId34"/>
    <p:sldId id="1035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242"/>
    <a:srgbClr val="990033"/>
    <a:srgbClr val="CC3300"/>
    <a:srgbClr val="0066FF"/>
    <a:srgbClr val="0066CC"/>
    <a:srgbClr val="FF0000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6" autoAdjust="0"/>
    <p:restoredTop sz="87668" autoAdjust="0"/>
  </p:normalViewPr>
  <p:slideViewPr>
    <p:cSldViewPr showGuides="1">
      <p:cViewPr varScale="1">
        <p:scale>
          <a:sx n="88" d="100"/>
          <a:sy n="88" d="100"/>
        </p:scale>
        <p:origin x="20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8"/>
    </p:cViewPr>
  </p:sorterViewPr>
  <p:notesViewPr>
    <p:cSldViewPr>
      <p:cViewPr varScale="1">
        <p:scale>
          <a:sx n="68" d="100"/>
          <a:sy n="68" d="100"/>
        </p:scale>
        <p:origin x="-3288" y="-10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9625686-584A-41D4-8341-97710F295F2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80D097-F5CD-4B16-8F96-0496AE63A5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21C542-F423-4B6F-A3B3-63ACAF2AE1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AD538-3ADF-41B4-BAF1-DE8FCD6141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5C2FF-1664-4BD3-A907-4A7FE9A4A1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07ECA-4B16-434B-8BA4-9199049D21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235C6-8057-4662-9820-BE134F1EE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A8673-48A6-428B-9FB4-34E6081460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55B611-606F-4EC7-942E-6645CE52FA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296B46-25A9-44CD-A3C4-3D9C182488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B609F-965E-4E35-9911-2E93A7E3E7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565E6-1299-4A33-9142-DB7F853298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C0D13071-5AEA-4559-8FD8-A6116484958D}" type="slidenum">
              <a:rPr lang="en-US" altLang="zh-CN"/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sourceware.org/gdb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6250" y="204788"/>
            <a:ext cx="8145463" cy="5969000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br>
              <a:rPr lang="en-US" altLang="zh-CN" dirty="0"/>
            </a:b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gdb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操作说明</a:t>
            </a:r>
            <a:br>
              <a:rPr lang="zh-CN" altLang="en-US" dirty="0">
                <a:solidFill>
                  <a:srgbClr val="FF0000"/>
                </a:solidFill>
              </a:rPr>
            </a:br>
            <a:br>
              <a:rPr lang="zh-CN" altLang="en-US" dirty="0"/>
            </a:br>
            <a:r>
              <a:rPr lang="zh-CN" altLang="en-US" dirty="0"/>
              <a:t> </a:t>
            </a:r>
            <a:endParaRPr lang="en-US" altLang="zh-CN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调试准备</a:t>
            </a:r>
            <a:endParaRPr lang="zh-CN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5626100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安装 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生成可调试的程序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</a:t>
            </a:r>
            <a:r>
              <a:rPr lang="en-US" altLang="zh-CN" sz="2800" dirty="0" err="1">
                <a:ea typeface="黑体" panose="02010609060101010101" pitchFamily="49" charset="-122"/>
              </a:rPr>
              <a:t>gcc</a:t>
            </a:r>
            <a:r>
              <a:rPr lang="en-US" altLang="zh-CN" sz="2800" dirty="0">
                <a:ea typeface="黑体" panose="02010609060101010101" pitchFamily="49" charset="-122"/>
              </a:rPr>
              <a:t>  -g  </a:t>
            </a:r>
            <a:r>
              <a:rPr lang="en-US" altLang="zh-CN" sz="2800" dirty="0" err="1">
                <a:ea typeface="黑体" panose="02010609060101010101" pitchFamily="49" charset="-122"/>
              </a:rPr>
              <a:t>test.c</a:t>
            </a:r>
            <a:r>
              <a:rPr lang="en-US" altLang="zh-CN" sz="2800" dirty="0">
                <a:ea typeface="黑体" panose="02010609060101010101" pitchFamily="49" charset="-122"/>
              </a:rPr>
              <a:t> –o test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启动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#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r>
              <a:rPr lang="en-US" altLang="zh-CN" sz="2800" dirty="0">
                <a:ea typeface="黑体" panose="02010609060101010101" pitchFamily="49" charset="-122"/>
              </a:rPr>
              <a:t>      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   </a:t>
            </a:r>
            <a:r>
              <a:rPr lang="zh-CN" altLang="en-US" sz="2800" dirty="0">
                <a:ea typeface="黑体" panose="02010609060101010101" pitchFamily="49" charset="-122"/>
              </a:rPr>
              <a:t>进入后，用 </a:t>
            </a:r>
            <a:r>
              <a:rPr lang="en-US" altLang="zh-CN" sz="2800" dirty="0">
                <a:ea typeface="黑体" panose="02010609060101010101" pitchFamily="49" charset="-122"/>
              </a:rPr>
              <a:t>file </a:t>
            </a:r>
            <a:r>
              <a:rPr lang="zh-CN" altLang="en-US" sz="2800" dirty="0">
                <a:ea typeface="黑体" panose="02010609060101010101" pitchFamily="49" charset="-122"/>
              </a:rPr>
              <a:t>命令加载执行程序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#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r>
              <a:rPr lang="en-US" altLang="zh-CN" sz="2800" dirty="0">
                <a:ea typeface="黑体" panose="02010609060101010101" pitchFamily="49" charset="-122"/>
              </a:rPr>
              <a:t>   test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  <a:endParaRPr lang="zh-CN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5626100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list    </a:t>
            </a:r>
            <a:r>
              <a:rPr lang="zh-CN" altLang="en-US" dirty="0"/>
              <a:t>列出多行源代码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ea typeface="黑体" panose="02010609060101010101" pitchFamily="49" charset="-122"/>
              </a:rPr>
              <a:t>运行程序  </a:t>
            </a:r>
            <a:r>
              <a:rPr lang="en-US" altLang="zh-CN" dirty="0">
                <a:ea typeface="黑体" panose="02010609060101010101" pitchFamily="49" charset="-122"/>
              </a:rPr>
              <a:t>start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run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step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next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continue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finish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   </a:t>
            </a:r>
            <a:r>
              <a:rPr lang="zh-CN" altLang="en-US" dirty="0"/>
              <a:t>设置断点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disassemble   </a:t>
            </a:r>
            <a:r>
              <a:rPr lang="zh-CN" altLang="en-US" dirty="0">
                <a:ea typeface="黑体" panose="02010609060101010101" pitchFamily="49" charset="-122"/>
              </a:rPr>
              <a:t>反汇编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Info        </a:t>
            </a:r>
            <a:r>
              <a:rPr lang="zh-CN" altLang="en-US" dirty="0">
                <a:ea typeface="黑体" panose="02010609060101010101" pitchFamily="49" charset="-122"/>
              </a:rPr>
              <a:t>查看信息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x</a:t>
            </a:r>
            <a:r>
              <a:rPr lang="zh-CN" altLang="en-US" dirty="0">
                <a:ea typeface="黑体" panose="02010609060101010101" pitchFamily="49" charset="-122"/>
              </a:rPr>
              <a:t>             查看内存    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watch     </a:t>
            </a:r>
            <a:r>
              <a:rPr lang="zh-CN" altLang="en-US" dirty="0">
                <a:ea typeface="黑体" panose="02010609060101010101" pitchFamily="49" charset="-122"/>
              </a:rPr>
              <a:t>监视变量值的变化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display  </a:t>
            </a:r>
            <a:r>
              <a:rPr lang="zh-CN" altLang="en-US" dirty="0">
                <a:ea typeface="黑体" panose="02010609060101010101" pitchFamily="49" charset="-122"/>
              </a:rPr>
              <a:t> 跟踪查看某个变量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file </a:t>
            </a:r>
            <a:r>
              <a:rPr lang="zh-CN" altLang="en-US" dirty="0">
                <a:ea typeface="黑体" panose="02010609060101010101" pitchFamily="49" charset="-122"/>
              </a:rPr>
              <a:t>         重新载入待调试程序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黑体" panose="02010609060101010101" pitchFamily="49" charset="-122"/>
              </a:rPr>
              <a:t>backtrace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查看当前函数及其被调用的信息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help       </a:t>
            </a:r>
            <a:r>
              <a:rPr lang="zh-CN" altLang="en-US" dirty="0">
                <a:ea typeface="黑体" panose="02010609060101010101" pitchFamily="49" charset="-122"/>
              </a:rPr>
              <a:t>查看命令帮助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quit        </a:t>
            </a:r>
            <a:r>
              <a:rPr lang="zh-CN" altLang="en-US" dirty="0">
                <a:ea typeface="黑体" panose="02010609060101010101" pitchFamily="49" charset="-122"/>
              </a:rPr>
              <a:t>退出 </a:t>
            </a:r>
            <a:r>
              <a:rPr lang="en-US" altLang="zh-CN" dirty="0" err="1">
                <a:ea typeface="黑体" panose="02010609060101010101" pitchFamily="49" charset="-122"/>
              </a:rPr>
              <a:t>gdb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环境</a:t>
            </a:r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7965625" cy="216043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l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根据行号和函数名查看。除了可以查看本文件源码，还可以查看其他文件的源码。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69" y="3215116"/>
            <a:ext cx="8145905" cy="9678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329100"/>
            <a:ext cx="7957336" cy="7200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36585" y="5218061"/>
            <a:ext cx="6570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latin typeface="+mn-lt"/>
                <a:ea typeface="+mn-ea"/>
              </a:rPr>
              <a:t>列出源代码的函数是可以设置的。</a:t>
            </a:r>
            <a:endParaRPr lang="zh-CN" altLang="en-US" sz="2800" b="1" dirty="0">
              <a:latin typeface="+mn-lt"/>
              <a:ea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95" y="5910163"/>
            <a:ext cx="4814952" cy="66945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932973" y="5859463"/>
            <a:ext cx="2475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show </a:t>
            </a:r>
            <a:r>
              <a:rPr lang="en-US" altLang="zh-CN" dirty="0"/>
              <a:t>  </a:t>
            </a:r>
            <a:r>
              <a:rPr lang="en-US" altLang="zh-CN" sz="1800" dirty="0" err="1"/>
              <a:t>listsize</a:t>
            </a:r>
            <a:endParaRPr lang="en-US" altLang="zh-CN" sz="1800" dirty="0"/>
          </a:p>
          <a:p>
            <a:r>
              <a:rPr lang="en-US" altLang="zh-CN" dirty="0"/>
              <a:t>set       </a:t>
            </a:r>
            <a:r>
              <a:rPr lang="en-US" altLang="zh-CN" dirty="0" err="1"/>
              <a:t>listsize</a:t>
            </a:r>
            <a:r>
              <a:rPr lang="en-US" altLang="zh-CN" dirty="0"/>
              <a:t>     20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7965625" cy="94529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help  list    </a:t>
            </a:r>
            <a:r>
              <a:rPr lang="zh-CN" altLang="en-US" dirty="0"/>
              <a:t>或者 </a:t>
            </a:r>
            <a:r>
              <a:rPr lang="en-US" altLang="zh-CN" dirty="0"/>
              <a:t>help  l</a:t>
            </a:r>
            <a:r>
              <a:rPr lang="zh-CN" altLang="en-US" dirty="0"/>
              <a:t>，</a:t>
            </a:r>
            <a:r>
              <a:rPr lang="en-US" altLang="zh-CN" dirty="0"/>
              <a:t>   </a:t>
            </a:r>
            <a:r>
              <a:rPr lang="zh-CN" altLang="en-US" dirty="0"/>
              <a:t>显示</a:t>
            </a:r>
            <a:r>
              <a:rPr lang="en-US" altLang="zh-CN" dirty="0"/>
              <a:t>list </a:t>
            </a:r>
            <a:r>
              <a:rPr lang="zh-CN" altLang="en-US" dirty="0"/>
              <a:t>的各种操作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68" y="2123855"/>
            <a:ext cx="8475063" cy="4057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1659" y="863715"/>
            <a:ext cx="8460681" cy="576103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   </a:t>
            </a:r>
            <a:r>
              <a:rPr lang="zh-CN" altLang="en-US" dirty="0"/>
              <a:t>：</a:t>
            </a:r>
            <a:r>
              <a:rPr lang="en-US" altLang="zh-CN" sz="2000" dirty="0"/>
              <a:t>lists ten more lines after or around previous listing</a:t>
            </a:r>
            <a:endParaRPr lang="en-US" altLang="zh-CN" sz="2000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–  : </a:t>
            </a:r>
            <a:r>
              <a:rPr lang="en-US" altLang="zh-CN" sz="2000" dirty="0"/>
              <a:t>lists the ten lines before a previous ten-line listing</a:t>
            </a:r>
            <a:endParaRPr lang="en-US" altLang="zh-CN" sz="2000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15           </a:t>
            </a:r>
            <a:r>
              <a:rPr lang="zh-CN" altLang="en-US" dirty="0"/>
              <a:t>：</a:t>
            </a:r>
            <a:r>
              <a:rPr lang="en-US" altLang="zh-CN" dirty="0"/>
              <a:t>list around that line </a:t>
            </a:r>
            <a:r>
              <a:rPr lang="en-US" altLang="zh-CN" dirty="0">
                <a:solidFill>
                  <a:srgbClr val="FF0000"/>
                </a:solidFill>
              </a:rPr>
              <a:t>in current file</a:t>
            </a:r>
            <a:endParaRPr lang="en-US" altLang="zh-CN" dirty="0">
              <a:solidFill>
                <a:srgbClr val="FF0000"/>
              </a:solidFill>
            </a:endParaRPr>
          </a:p>
          <a:p>
            <a:pPr marL="323850">
              <a:spcBef>
                <a:spcPts val="0"/>
              </a:spcBef>
            </a:pPr>
            <a:r>
              <a:rPr lang="en-US" altLang="zh-CN" dirty="0"/>
              <a:t>l  15,30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 main     </a:t>
            </a:r>
            <a:r>
              <a:rPr lang="zh-CN" altLang="en-US" dirty="0"/>
              <a:t>： 显示 </a:t>
            </a:r>
            <a:r>
              <a:rPr lang="en-US" altLang="zh-CN" dirty="0"/>
              <a:t>main 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*address       l  </a:t>
            </a:r>
            <a:r>
              <a:rPr lang="zh-CN" altLang="en-US" dirty="0"/>
              <a:t>*</a:t>
            </a:r>
            <a:r>
              <a:rPr lang="en-US" altLang="zh-CN" dirty="0"/>
              <a:t>$rip  </a:t>
            </a:r>
            <a:r>
              <a:rPr lang="en-US" altLang="zh-CN" dirty="0" err="1"/>
              <a:t>rip</a:t>
            </a:r>
            <a:r>
              <a:rPr lang="en-US" altLang="zh-CN" dirty="0"/>
              <a:t>  </a:t>
            </a:r>
            <a:r>
              <a:rPr lang="zh-CN" altLang="en-US" dirty="0"/>
              <a:t>对应的源程序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 test.c:15   </a:t>
            </a:r>
            <a:r>
              <a:rPr lang="zh-CN" altLang="en-US" dirty="0"/>
              <a:t>：指明当前文件为 </a:t>
            </a:r>
            <a:r>
              <a:rPr lang="en-US" altLang="zh-CN" dirty="0" err="1"/>
              <a:t>test.c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l   </a:t>
            </a:r>
            <a:r>
              <a:rPr lang="en-US" altLang="zh-CN" dirty="0" err="1"/>
              <a:t>test.c:main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每次显示的行数可以修改</a:t>
            </a:r>
            <a:r>
              <a:rPr lang="zh-CN" altLang="en-US" dirty="0"/>
              <a:t>，缺省情况下，每次列出 </a:t>
            </a:r>
            <a:r>
              <a:rPr lang="en-US" altLang="zh-CN" dirty="0"/>
              <a:t>10</a:t>
            </a:r>
            <a:r>
              <a:rPr lang="zh-CN" altLang="en-US" dirty="0"/>
              <a:t>行；   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show  </a:t>
            </a:r>
            <a:r>
              <a:rPr lang="en-US" altLang="zh-CN" dirty="0" err="1"/>
              <a:t>listsize</a:t>
            </a:r>
            <a:r>
              <a:rPr lang="en-US" altLang="zh-CN" dirty="0"/>
              <a:t>   ;  </a:t>
            </a:r>
            <a:r>
              <a:rPr lang="zh-CN" altLang="en-US" dirty="0"/>
              <a:t>显示当前显示行数 设置的值</a:t>
            </a:r>
            <a:br>
              <a:rPr lang="en-US" altLang="zh-CN" dirty="0"/>
            </a:br>
            <a:r>
              <a:rPr lang="en-US" altLang="zh-CN" dirty="0"/>
              <a:t>set  </a:t>
            </a:r>
            <a:r>
              <a:rPr lang="en-US" altLang="zh-CN" dirty="0" err="1"/>
              <a:t>listsize</a:t>
            </a:r>
            <a:r>
              <a:rPr lang="en-US" altLang="zh-CN" dirty="0"/>
              <a:t>  20 ;  </a:t>
            </a:r>
            <a:r>
              <a:rPr lang="zh-CN" altLang="en-US" dirty="0"/>
              <a:t>将每次列出的代码行数设为 </a:t>
            </a: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8460681" cy="57610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si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start</a:t>
            </a:r>
            <a:r>
              <a:rPr lang="zh-CN" altLang="en-US" dirty="0"/>
              <a:t>：开始执行程序，在第一条可执行语句处停下来；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run </a:t>
            </a:r>
            <a:r>
              <a:rPr lang="zh-CN" altLang="en-US" dirty="0"/>
              <a:t> ： 运行程序，直到第一个断点或程序结束；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step </a:t>
            </a:r>
            <a:r>
              <a:rPr lang="zh-CN" altLang="en-US" dirty="0"/>
              <a:t>：执行下一条语句，如果该语句为函数调用，则执行所调用函数执行其第一行语句；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 err="1">
                <a:solidFill>
                  <a:srgbClr val="FF0000"/>
                </a:solidFill>
              </a:rPr>
              <a:t>si</a:t>
            </a:r>
            <a:r>
              <a:rPr lang="en-US" altLang="zh-CN" dirty="0">
                <a:solidFill>
                  <a:srgbClr val="FF0000"/>
                </a:solidFill>
              </a:rPr>
              <a:t>  [N] :  </a:t>
            </a:r>
            <a:r>
              <a:rPr lang="zh-CN" altLang="en-US" dirty="0">
                <a:solidFill>
                  <a:srgbClr val="FF0000"/>
                </a:solidFill>
              </a:rPr>
              <a:t>执行一</a:t>
            </a:r>
            <a:r>
              <a:rPr lang="en-US" altLang="zh-CN" dirty="0">
                <a:solidFill>
                  <a:srgbClr val="FF0000"/>
                </a:solidFill>
              </a:rPr>
              <a:t>(N)</a:t>
            </a:r>
            <a:r>
              <a:rPr lang="zh-CN" altLang="en-US" dirty="0">
                <a:solidFill>
                  <a:srgbClr val="FF0000"/>
                </a:solidFill>
              </a:rPr>
              <a:t>条机器指令</a:t>
            </a:r>
            <a:r>
              <a:rPr lang="zh-CN" altLang="en-US" dirty="0"/>
              <a:t>，</a:t>
            </a:r>
            <a:r>
              <a:rPr lang="en-US" altLang="zh-CN" dirty="0"/>
              <a:t>s </a:t>
            </a:r>
            <a:r>
              <a:rPr lang="zh-CN" altLang="en-US" dirty="0"/>
              <a:t>是执行一条</a:t>
            </a:r>
            <a:r>
              <a:rPr lang="en-US" altLang="zh-CN" dirty="0"/>
              <a:t>C</a:t>
            </a:r>
            <a:r>
              <a:rPr lang="zh-CN" altLang="en-US" dirty="0"/>
              <a:t>语句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                   </a:t>
            </a:r>
            <a:r>
              <a:rPr lang="zh-CN" altLang="en-US" dirty="0"/>
              <a:t>对于 </a:t>
            </a:r>
            <a:r>
              <a:rPr lang="en-US" altLang="zh-CN" dirty="0"/>
              <a:t>call </a:t>
            </a:r>
            <a:r>
              <a:rPr lang="zh-CN" altLang="en-US" dirty="0"/>
              <a:t>指令，进入被调函数；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next</a:t>
            </a:r>
            <a:r>
              <a:rPr lang="zh-CN" altLang="en-US" dirty="0"/>
              <a:t>：执行下一条语句，如果该下一条语句为函数调用，不会进入函数内部执行</a:t>
            </a:r>
            <a:r>
              <a:rPr lang="en-US" altLang="zh-CN" dirty="0"/>
              <a:t>(</a:t>
            </a:r>
            <a:r>
              <a:rPr lang="zh-CN" altLang="en-US" dirty="0"/>
              <a:t>即不会一步步调试函数内部语句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 err="1"/>
              <a:t>nexti</a:t>
            </a:r>
            <a:r>
              <a:rPr lang="en-US" altLang="zh-CN" dirty="0"/>
              <a:t> [N] : </a:t>
            </a:r>
            <a:r>
              <a:rPr lang="zh-CN" altLang="en-US" dirty="0">
                <a:latin typeface="+mn-ea"/>
              </a:rPr>
              <a:t>类似 </a:t>
            </a:r>
            <a:r>
              <a:rPr lang="en-US" altLang="zh-CN" dirty="0" err="1">
                <a:latin typeface="+mn-ea"/>
              </a:rPr>
              <a:t>si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不进入 </a:t>
            </a:r>
            <a:r>
              <a:rPr lang="en-US" altLang="zh-CN" dirty="0">
                <a:latin typeface="+mn-ea"/>
              </a:rPr>
              <a:t>call </a:t>
            </a:r>
            <a:r>
              <a:rPr lang="zh-CN" altLang="en-US" dirty="0">
                <a:latin typeface="+mn-ea"/>
              </a:rPr>
              <a:t>调用的函数</a:t>
            </a:r>
            <a:endParaRPr lang="en-US" altLang="zh-CN" sz="2400" b="1" dirty="0">
              <a:latin typeface="+mn-ea"/>
              <a:ea typeface="+mn-ea"/>
            </a:endParaRPr>
          </a:p>
          <a:p>
            <a:pPr marL="323850">
              <a:spcBef>
                <a:spcPts val="0"/>
              </a:spcBef>
            </a:pPr>
            <a:r>
              <a:rPr lang="en-US" altLang="zh-CN" dirty="0"/>
              <a:t>continue</a:t>
            </a:r>
            <a:r>
              <a:rPr lang="zh-CN" altLang="en-US" dirty="0"/>
              <a:t>：继续程序的运行，直到下一个断点。如果没有下一个端点，则程序执行结束。</a:t>
            </a:r>
            <a:endParaRPr lang="zh-CN" altLang="en-US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70" y="5139190"/>
            <a:ext cx="3623343" cy="9375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4284095"/>
            <a:ext cx="1610885" cy="6861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05" y="4211067"/>
            <a:ext cx="1883177" cy="6861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69" y="2957147"/>
            <a:ext cx="4455495" cy="76896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97125" y="2970819"/>
            <a:ext cx="2506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start</a:t>
            </a:r>
            <a:r>
              <a:rPr lang="zh-CN" altLang="en-US" sz="2400" dirty="0"/>
              <a:t> 、</a:t>
            </a:r>
            <a:r>
              <a:rPr lang="en-US" altLang="zh-CN" sz="2400" dirty="0"/>
              <a:t>run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4992" y="4331534"/>
            <a:ext cx="2506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continue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697124" y="5049180"/>
            <a:ext cx="3105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step</a:t>
            </a:r>
            <a:endParaRPr lang="en-US" altLang="zh-CN" sz="2400" dirty="0"/>
          </a:p>
          <a:p>
            <a:r>
              <a:rPr lang="en-US" altLang="zh-CN" sz="2400" dirty="0"/>
              <a:t>next</a:t>
            </a:r>
            <a:endParaRPr lang="en-US" altLang="zh-CN" sz="2400" dirty="0"/>
          </a:p>
          <a:p>
            <a:r>
              <a:rPr lang="en-US" altLang="zh-CN" sz="2400" dirty="0"/>
              <a:t>finish    </a:t>
            </a:r>
            <a:r>
              <a:rPr lang="zh-CN" altLang="en-US" sz="2400" dirty="0"/>
              <a:t>跳出函数</a:t>
            </a:r>
            <a:endParaRPr lang="en-US" altLang="zh-CN" sz="2400" dirty="0"/>
          </a:p>
          <a:p>
            <a:r>
              <a:rPr lang="en-US" altLang="zh-CN" sz="2400" dirty="0"/>
              <a:t>until      </a:t>
            </a:r>
            <a:r>
              <a:rPr lang="zh-CN" altLang="en-US" sz="2400" dirty="0"/>
              <a:t>跳出循环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75" y="2012701"/>
            <a:ext cx="7347328" cy="4845299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1331640" y="230387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421650" y="527420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16" y="2033845"/>
            <a:ext cx="7137767" cy="457223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1736685" y="392405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601670" y="554423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14133" y="608429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9"/>
            <a:ext cx="8370670" cy="162037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同样可以使用  </a:t>
            </a:r>
            <a:r>
              <a:rPr lang="en-US" altLang="zh-CN" sz="2800" dirty="0"/>
              <a:t>help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help run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help  step</a:t>
            </a:r>
            <a:r>
              <a:rPr lang="zh-CN" altLang="en-US" sz="2800" dirty="0"/>
              <a:t>、</a:t>
            </a:r>
            <a:r>
              <a:rPr lang="en-US" altLang="zh-CN" sz="2800" dirty="0"/>
              <a:t>help next</a:t>
            </a:r>
            <a:r>
              <a:rPr lang="zh-CN" altLang="en-US" sz="2800" dirty="0"/>
              <a:t>、</a:t>
            </a:r>
            <a:r>
              <a:rPr lang="en-US" altLang="zh-CN" sz="2800" dirty="0"/>
              <a:t>help continue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查看命令的帮助信息。</a:t>
            </a:r>
            <a:endParaRPr lang="zh-CN" altLang="en-US" sz="2800" dirty="0"/>
          </a:p>
          <a:p>
            <a:pPr marL="0" indent="0">
              <a:spcBef>
                <a:spcPts val="0"/>
              </a:spcBef>
              <a:buNone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2752741"/>
            <a:ext cx="8235915" cy="29726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686800" cy="292532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(b)</a:t>
            </a:r>
            <a:r>
              <a:rPr lang="zh-CN" altLang="en-US" dirty="0"/>
              <a:t> ：命令之后可接源文件行、函数名称、地址等：</a:t>
            </a:r>
            <a:endParaRPr lang="zh-CN" altLang="en-US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 </a:t>
            </a:r>
            <a:r>
              <a:rPr lang="en-US" altLang="zh-CN" dirty="0"/>
              <a:t>break [line-num] </a:t>
            </a:r>
            <a:r>
              <a:rPr lang="zh-CN" altLang="en-US" dirty="0"/>
              <a:t>：按代码行来设置断点</a:t>
            </a:r>
            <a:r>
              <a:rPr lang="en-US" altLang="zh-CN" dirty="0"/>
              <a:t>;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[function-name]</a:t>
            </a:r>
            <a:r>
              <a:rPr lang="zh-CN" altLang="en-US" dirty="0"/>
              <a:t>：按函数名来设置断点</a:t>
            </a:r>
            <a:r>
              <a:rPr lang="en-US" altLang="zh-CN" dirty="0"/>
              <a:t>;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*</a:t>
            </a:r>
            <a:r>
              <a:rPr lang="zh-CN" altLang="en-US" dirty="0"/>
              <a:t>地址：按地址来设置断点</a:t>
            </a:r>
            <a:r>
              <a:rPr lang="en-US" altLang="zh-CN" dirty="0"/>
              <a:t>;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if &lt;condition&gt;: </a:t>
            </a:r>
            <a:r>
              <a:rPr lang="zh-CN" altLang="en-US" dirty="0"/>
              <a:t>条件成立时程序停住</a:t>
            </a:r>
            <a:r>
              <a:rPr lang="en-US" altLang="zh-CN" dirty="0"/>
              <a:t>;</a:t>
            </a:r>
            <a:endParaRPr lang="zh-CN" altLang="en-US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 </a:t>
            </a:r>
            <a:r>
              <a:rPr lang="en-US" altLang="zh-CN" dirty="0"/>
              <a:t>info break</a:t>
            </a:r>
            <a:r>
              <a:rPr lang="zh-CN" altLang="en-US" dirty="0"/>
              <a:t>：查看断点</a:t>
            </a:r>
            <a:endParaRPr lang="zh-CN" altLang="en-US" dirty="0"/>
          </a:p>
          <a:p>
            <a:pPr marL="32385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设置断点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79" y="3779349"/>
            <a:ext cx="7098947" cy="6750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53" y="4549561"/>
            <a:ext cx="7321926" cy="16637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79" y="6293035"/>
            <a:ext cx="6407479" cy="5524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686800" cy="2407767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(b)</a:t>
            </a:r>
            <a:r>
              <a:rPr lang="zh-CN" altLang="en-US" dirty="0"/>
              <a:t> ：命令之后可接源文件行、函数名称、地址等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Help  break : </a:t>
            </a:r>
            <a:r>
              <a:rPr lang="zh-CN" altLang="en-US" dirty="0"/>
              <a:t>可以看到 </a:t>
            </a:r>
            <a:r>
              <a:rPr lang="en-US" altLang="zh-CN" dirty="0"/>
              <a:t>break</a:t>
            </a:r>
            <a:r>
              <a:rPr lang="zh-CN" altLang="en-US" dirty="0"/>
              <a:t>的使用帮助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  3      </a:t>
            </a:r>
            <a:r>
              <a:rPr lang="zh-CN" altLang="en-US" dirty="0"/>
              <a:t>删除第 </a:t>
            </a:r>
            <a:r>
              <a:rPr lang="en-US" altLang="zh-CN" dirty="0"/>
              <a:t>3</a:t>
            </a:r>
            <a:r>
              <a:rPr lang="zh-CN" altLang="en-US" dirty="0"/>
              <a:t>个断点</a:t>
            </a:r>
            <a:endParaRPr lang="zh-CN" altLang="en-US" dirty="0"/>
          </a:p>
          <a:p>
            <a:pPr marL="323850">
              <a:spcBef>
                <a:spcPts val="0"/>
              </a:spcBef>
            </a:pPr>
            <a:r>
              <a:rPr lang="en-US" altLang="zh-CN" dirty="0"/>
              <a:t>dis  4   </a:t>
            </a:r>
            <a:r>
              <a:rPr lang="zh-CN" altLang="en-US" dirty="0"/>
              <a:t>将第 </a:t>
            </a:r>
            <a:r>
              <a:rPr lang="en-US" altLang="zh-CN" dirty="0"/>
              <a:t>4</a:t>
            </a:r>
            <a:r>
              <a:rPr lang="zh-CN" altLang="en-US" dirty="0"/>
              <a:t>个断点设为无效</a:t>
            </a:r>
            <a:endParaRPr lang="en-US" altLang="zh-CN" dirty="0"/>
          </a:p>
          <a:p>
            <a:pPr marL="323850">
              <a:spcBef>
                <a:spcPts val="0"/>
              </a:spcBef>
            </a:pPr>
            <a:r>
              <a:rPr lang="en-US" altLang="zh-CN" dirty="0" err="1"/>
              <a:t>ena</a:t>
            </a:r>
            <a:r>
              <a:rPr lang="en-US" altLang="zh-CN" dirty="0"/>
              <a:t>  4  </a:t>
            </a:r>
            <a:r>
              <a:rPr lang="zh-CN" altLang="en-US" dirty="0"/>
              <a:t>将第 </a:t>
            </a:r>
            <a:r>
              <a:rPr lang="en-US" altLang="zh-CN" dirty="0"/>
              <a:t>4</a:t>
            </a:r>
            <a:r>
              <a:rPr lang="zh-CN" altLang="en-US" dirty="0"/>
              <a:t>个断点设为有效</a:t>
            </a: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取消断点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62" y="3429000"/>
            <a:ext cx="8847475" cy="2273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428452" cy="5828148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disassemble</a:t>
            </a:r>
            <a:r>
              <a:rPr lang="zh-CN" altLang="en-US" dirty="0"/>
              <a:t>   命令简写  </a:t>
            </a:r>
            <a:r>
              <a:rPr lang="en-US" altLang="zh-CN" dirty="0" err="1"/>
              <a:t>disass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Help  </a:t>
            </a:r>
            <a:r>
              <a:rPr lang="en-US" altLang="zh-CN" dirty="0" err="1"/>
              <a:t>disass</a:t>
            </a:r>
            <a:r>
              <a:rPr lang="en-US" altLang="zh-CN" dirty="0"/>
              <a:t> : </a:t>
            </a:r>
            <a:r>
              <a:rPr lang="zh-CN" altLang="en-US" dirty="0"/>
              <a:t>可以看到 </a:t>
            </a:r>
            <a:r>
              <a:rPr lang="en-US" altLang="zh-CN" dirty="0" err="1"/>
              <a:t>disass</a:t>
            </a:r>
            <a:r>
              <a:rPr lang="zh-CN" altLang="en-US" dirty="0"/>
              <a:t>的使用帮助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>
                <a:highlight>
                  <a:srgbClr val="FFFF00"/>
                </a:highlight>
              </a:rPr>
              <a:t>disass</a:t>
            </a:r>
            <a:r>
              <a:rPr lang="en-US" altLang="zh-CN" dirty="0">
                <a:highlight>
                  <a:srgbClr val="FFFF00"/>
                </a:highlight>
              </a:rPr>
              <a:t>  /s   </a:t>
            </a:r>
            <a:r>
              <a:rPr lang="zh-CN" altLang="en-US" dirty="0">
                <a:highlight>
                  <a:srgbClr val="FFFF00"/>
                </a:highlight>
              </a:rPr>
              <a:t>列出源程序及反汇编程序</a:t>
            </a:r>
            <a:r>
              <a:rPr lang="zh-CN" altLang="en-US" dirty="0"/>
              <a:t>    或  </a:t>
            </a:r>
            <a:r>
              <a:rPr lang="en-US" altLang="zh-CN" dirty="0"/>
              <a:t>/m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/r    </a:t>
            </a:r>
            <a:r>
              <a:rPr lang="zh-CN" altLang="en-US" dirty="0"/>
              <a:t>列出指令的机器码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/</a:t>
            </a:r>
            <a:r>
              <a:rPr lang="en-US" altLang="zh-CN" dirty="0" err="1"/>
              <a:t>rs</a:t>
            </a:r>
            <a:r>
              <a:rPr lang="en-US" altLang="zh-CN" dirty="0"/>
              <a:t>    </a:t>
            </a:r>
            <a:r>
              <a:rPr lang="zh-CN" altLang="en-US" dirty="0"/>
              <a:t>列出指令的机器码、源程序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main     </a:t>
            </a:r>
            <a:r>
              <a:rPr lang="zh-CN" altLang="en-US" dirty="0"/>
              <a:t>列出</a:t>
            </a:r>
            <a:r>
              <a:rPr lang="en-US" altLang="zh-CN" dirty="0"/>
              <a:t>main</a:t>
            </a:r>
            <a:r>
              <a:rPr lang="zh-CN" altLang="en-US" dirty="0"/>
              <a:t>函数的反汇编代码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函数名</a:t>
            </a:r>
            <a:r>
              <a:rPr lang="en-US" altLang="zh-CN" dirty="0"/>
              <a:t>, +</a:t>
            </a:r>
            <a:r>
              <a:rPr lang="zh-CN" altLang="en-US" dirty="0"/>
              <a:t>长度；函数前</a:t>
            </a:r>
            <a:r>
              <a:rPr lang="en-US" altLang="zh-CN" dirty="0"/>
              <a:t>length</a:t>
            </a:r>
            <a:r>
              <a:rPr lang="zh-CN" altLang="en-US" dirty="0"/>
              <a:t>字节反汇编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起始地址</a:t>
            </a:r>
            <a:r>
              <a:rPr lang="en-US" altLang="zh-CN" dirty="0"/>
              <a:t>, </a:t>
            </a:r>
            <a:r>
              <a:rPr lang="zh-CN" altLang="en-US" dirty="0"/>
              <a:t>终止地址 ；对该区间的代码反汇编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起始地址</a:t>
            </a:r>
            <a:r>
              <a:rPr lang="en-US" altLang="zh-CN" dirty="0"/>
              <a:t>, +</a:t>
            </a:r>
            <a:r>
              <a:rPr lang="zh-CN" altLang="en-US" dirty="0"/>
              <a:t>长度；对该区间的代码反汇编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起始的表达方式 ：数字，函数名，变量名，寄存器名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2" y="773705"/>
            <a:ext cx="8781896" cy="206538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06" y="3113965"/>
            <a:ext cx="8767542" cy="311530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39654" y="6309320"/>
            <a:ext cx="6562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获得当前指令的地址， 用 </a:t>
            </a:r>
            <a:r>
              <a:rPr lang="en-US" altLang="zh-CN" sz="2400" dirty="0" err="1"/>
              <a:t>i</a:t>
            </a:r>
            <a:r>
              <a:rPr lang="en-US" altLang="zh-CN" sz="2400"/>
              <a:t>  reg  </a:t>
            </a:r>
            <a:r>
              <a:rPr lang="en-US" altLang="zh-CN" sz="2400" dirty="0"/>
              <a:t>rip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2854" y="1043735"/>
            <a:ext cx="81495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disass</a:t>
            </a:r>
            <a:r>
              <a:rPr lang="en-US" altLang="zh-CN" sz="2400" dirty="0"/>
              <a:t>  $rip, +20</a:t>
            </a:r>
            <a:endParaRPr lang="en-US" altLang="zh-CN" sz="2400" dirty="0"/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$rsp,+40   //</a:t>
            </a:r>
            <a:r>
              <a:rPr lang="zh-CN" altLang="en-US" sz="2400" dirty="0"/>
              <a:t> 将堆栈中的数据当指令解析</a:t>
            </a:r>
            <a:endParaRPr lang="en-US" altLang="zh-CN" sz="2400" dirty="0"/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buf</a:t>
            </a:r>
            <a:r>
              <a:rPr lang="en-US" altLang="zh-CN" sz="2400" dirty="0"/>
              <a:t>, +50   //  </a:t>
            </a:r>
            <a:r>
              <a:rPr lang="zh-CN" altLang="en-US" sz="2400" dirty="0"/>
              <a:t>将变量</a:t>
            </a:r>
            <a:r>
              <a:rPr lang="en-US" altLang="zh-CN" sz="2400" dirty="0" err="1"/>
              <a:t>buf</a:t>
            </a:r>
            <a:r>
              <a:rPr lang="zh-CN" altLang="en-US" sz="2400" dirty="0"/>
              <a:t>中的数据当指令解析</a:t>
            </a:r>
            <a:endParaRPr lang="en-US" altLang="zh-CN" sz="2400" dirty="0"/>
          </a:p>
          <a:p>
            <a:r>
              <a:rPr lang="en-US" altLang="zh-CN" sz="2400" dirty="0"/>
              <a:t>                                 </a:t>
            </a:r>
            <a:r>
              <a:rPr lang="en-US" altLang="zh-CN" sz="2400" dirty="0" err="1"/>
              <a:t>buf</a:t>
            </a:r>
            <a:r>
              <a:rPr lang="en-US" altLang="zh-CN" sz="2400" dirty="0"/>
              <a:t> </a:t>
            </a:r>
            <a:r>
              <a:rPr lang="zh-CN" altLang="en-US" sz="2400" dirty="0"/>
              <a:t>是一个字符数组类型的变量</a:t>
            </a:r>
            <a:endParaRPr lang="en-US" altLang="zh-CN" sz="2400" dirty="0"/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&amp;x, +4</a:t>
            </a:r>
            <a:endParaRPr lang="en-US" altLang="zh-CN" sz="2400" dirty="0"/>
          </a:p>
          <a:p>
            <a:r>
              <a:rPr lang="en-US" altLang="zh-CN" sz="2400" dirty="0"/>
              <a:t>         </a:t>
            </a:r>
            <a:r>
              <a:rPr lang="zh-CN" altLang="en-US" sz="2400" dirty="0"/>
              <a:t>例 ：</a:t>
            </a:r>
            <a:r>
              <a:rPr lang="en-US" altLang="zh-CN" sz="2400" dirty="0"/>
              <a:t>int  x=10;    p</a:t>
            </a:r>
            <a:r>
              <a:rPr lang="zh-CN" altLang="en-US" sz="2400" dirty="0"/>
              <a:t> </a:t>
            </a:r>
            <a:r>
              <a:rPr lang="en-US" altLang="zh-CN" sz="2400" dirty="0"/>
              <a:t>&amp;x,</a:t>
            </a:r>
            <a:r>
              <a:rPr lang="zh-CN" altLang="en-US" sz="2400" dirty="0"/>
              <a:t>   </a:t>
            </a:r>
            <a:r>
              <a:rPr lang="en-US" altLang="zh-CN" sz="2400" dirty="0"/>
              <a:t>x  &amp;x </a:t>
            </a:r>
            <a:r>
              <a:rPr lang="zh-CN" altLang="en-US" sz="2400" dirty="0"/>
              <a:t>等都可看 </a:t>
            </a:r>
            <a:r>
              <a:rPr lang="en-US" altLang="zh-CN" sz="2400" dirty="0"/>
              <a:t>x</a:t>
            </a:r>
            <a:r>
              <a:rPr lang="zh-CN" altLang="en-US" sz="2400" dirty="0"/>
              <a:t>的地址</a:t>
            </a:r>
            <a:endParaRPr lang="en-US" altLang="zh-CN" sz="2400" dirty="0"/>
          </a:p>
          <a:p>
            <a:r>
              <a:rPr lang="en-US" altLang="zh-CN" sz="2400" dirty="0"/>
              <a:t>                </a:t>
            </a:r>
            <a:r>
              <a:rPr lang="en-US" altLang="zh-CN" sz="2400" dirty="0" err="1"/>
              <a:t>disass</a:t>
            </a:r>
            <a:r>
              <a:rPr lang="en-US" altLang="zh-CN" sz="2400" dirty="0"/>
              <a:t> /r &amp;x,+4</a:t>
            </a:r>
            <a:endParaRPr lang="en-US" altLang="zh-CN" sz="2400" dirty="0"/>
          </a:p>
          <a:p>
            <a:r>
              <a:rPr lang="it-IT" altLang="zh-CN" sz="2400" dirty="0"/>
              <a:t>                0x00..... :   0a 00   or     (%rax),%al</a:t>
            </a:r>
            <a:endParaRPr lang="it-IT" altLang="zh-CN" sz="2400" dirty="0"/>
          </a:p>
          <a:p>
            <a:r>
              <a:rPr lang="it-IT" altLang="zh-CN" sz="2400" dirty="0"/>
              <a:t>                0x00..... :   00 00   add    %al,(%rax)</a:t>
            </a:r>
            <a:endParaRPr lang="it-IT" altLang="zh-CN" sz="2400" dirty="0"/>
          </a:p>
          <a:p>
            <a:endParaRPr lang="it-IT" altLang="zh-CN" sz="2400" dirty="0"/>
          </a:p>
          <a:p>
            <a:r>
              <a:rPr lang="it-IT" altLang="zh-CN" sz="2400" dirty="0"/>
              <a:t>disass  &amp;x,&amp;y      // </a:t>
            </a:r>
            <a:r>
              <a:rPr lang="zh-CN" altLang="en-US" sz="2400" dirty="0"/>
              <a:t>两个地址之间的内容的反汇编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1012613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可以用不同格式显示反汇编代码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set disassembly-flavor  intel   or  </a:t>
            </a:r>
            <a:r>
              <a:rPr lang="en-US" altLang="zh-CN" dirty="0" err="1"/>
              <a:t>att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14" y="1929194"/>
            <a:ext cx="8577445" cy="17781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84" y="3824354"/>
            <a:ext cx="8640960" cy="179411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6" y="5704335"/>
            <a:ext cx="8704276" cy="1055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8"/>
            <a:ext cx="7483346" cy="561976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info</a:t>
            </a:r>
            <a:r>
              <a:rPr lang="zh-CN" altLang="en-US" dirty="0"/>
              <a:t>   命令简写  </a:t>
            </a:r>
            <a:r>
              <a:rPr lang="en-US" altLang="zh-CN" dirty="0" err="1"/>
              <a:t>i</a:t>
            </a:r>
            <a:r>
              <a:rPr lang="zh-CN" altLang="en-US" dirty="0"/>
              <a:t>，可以查看的内容非常多</a:t>
            </a:r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15" y="1493992"/>
            <a:ext cx="8730970" cy="51268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56197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查看寄存器 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 </a:t>
            </a:r>
            <a:r>
              <a:rPr lang="en-US" altLang="zh-CN" dirty="0"/>
              <a:t>info    registers            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简化写法 </a:t>
            </a:r>
            <a:r>
              <a:rPr lang="en-US" altLang="zh-CN" dirty="0"/>
              <a:t>   </a:t>
            </a:r>
            <a:r>
              <a:rPr lang="en-US" altLang="zh-CN" dirty="0" err="1"/>
              <a:t>i</a:t>
            </a:r>
            <a:r>
              <a:rPr lang="en-US" altLang="zh-CN" dirty="0"/>
              <a:t>  registers   or    </a:t>
            </a:r>
            <a:r>
              <a:rPr lang="en-US" altLang="zh-CN" dirty="0" err="1"/>
              <a:t>i</a:t>
            </a:r>
            <a:r>
              <a:rPr lang="en-US" altLang="zh-CN" dirty="0"/>
              <a:t>   reg  or   </a:t>
            </a:r>
            <a:r>
              <a:rPr lang="en-US" altLang="zh-CN" dirty="0" err="1"/>
              <a:t>i</a:t>
            </a:r>
            <a:r>
              <a:rPr lang="en-US" altLang="zh-CN" dirty="0"/>
              <a:t>  r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register   </a:t>
            </a:r>
            <a:r>
              <a:rPr lang="en-US" altLang="zh-CN" dirty="0" err="1"/>
              <a:t>rax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all-registers     or   </a:t>
            </a:r>
            <a:r>
              <a:rPr lang="en-US" altLang="zh-CN" dirty="0" err="1"/>
              <a:t>i</a:t>
            </a:r>
            <a:r>
              <a:rPr lang="en-US" altLang="zh-CN" dirty="0"/>
              <a:t>   all-register</a:t>
            </a:r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3308485"/>
            <a:ext cx="7003770" cy="9756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56197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b   </a:t>
            </a:r>
            <a:r>
              <a:rPr lang="zh-CN" altLang="en-US" dirty="0"/>
              <a:t>查看断点信息 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display  </a:t>
            </a:r>
            <a:r>
              <a:rPr lang="zh-CN" altLang="en-US" dirty="0"/>
              <a:t>查看跟踪查看哪变量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source   </a:t>
            </a:r>
            <a:r>
              <a:rPr lang="zh-CN" altLang="en-US" dirty="0"/>
              <a:t>程序的信息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stack</a:t>
            </a:r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28700"/>
            <a:ext cx="8383447" cy="585065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X /</a:t>
            </a:r>
            <a:r>
              <a:rPr lang="en-US" altLang="zh-CN" dirty="0" err="1"/>
              <a:t>fmt</a:t>
            </a:r>
            <a:r>
              <a:rPr lang="en-US" altLang="zh-CN" dirty="0"/>
              <a:t>  address        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是查看格式，</a:t>
            </a:r>
            <a:r>
              <a:rPr lang="en-US" altLang="zh-CN" dirty="0"/>
              <a:t>address </a:t>
            </a:r>
            <a:r>
              <a:rPr lang="zh-CN" altLang="en-US" dirty="0"/>
              <a:t>为地址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地址的表达形式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简单类型的变量取地址，数组、指针、寄存器、函数名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int  x ;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 &amp;x</a:t>
            </a:r>
            <a:br>
              <a:rPr lang="en-US" altLang="zh-CN" dirty="0"/>
            </a:br>
            <a:r>
              <a:rPr lang="en-US" altLang="zh-CN" dirty="0"/>
              <a:t>    int  a[10] ;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a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对于寄存器，以寄存器中的内容为 地址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$rip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显示栈顶的 </a:t>
            </a:r>
            <a:r>
              <a:rPr lang="en-US" altLang="zh-CN" dirty="0"/>
              <a:t>10</a:t>
            </a:r>
            <a:r>
              <a:rPr lang="zh-CN" altLang="en-US" dirty="0"/>
              <a:t>个字节单元（以</a:t>
            </a:r>
            <a:r>
              <a:rPr lang="en-US" altLang="zh-CN" dirty="0"/>
              <a:t>16</a:t>
            </a:r>
            <a:r>
              <a:rPr lang="zh-CN" altLang="en-US" dirty="0"/>
              <a:t>进制形式）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x   /10xb  $</a:t>
            </a:r>
            <a:r>
              <a:rPr lang="en-US" altLang="zh-CN" dirty="0" err="1"/>
              <a:t>rsp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显示 </a:t>
            </a:r>
            <a:r>
              <a:rPr lang="en-US" altLang="zh-CN" dirty="0"/>
              <a:t>main </a:t>
            </a:r>
            <a:r>
              <a:rPr lang="zh-CN" altLang="en-US" dirty="0"/>
              <a:t>函数开头的 </a:t>
            </a:r>
            <a:r>
              <a:rPr lang="en-US" altLang="zh-CN" dirty="0"/>
              <a:t>20</a:t>
            </a:r>
            <a:r>
              <a:rPr lang="zh-CN" altLang="en-US" dirty="0"/>
              <a:t>个字节（以</a:t>
            </a:r>
            <a:r>
              <a:rPr lang="en-US" altLang="zh-CN" dirty="0"/>
              <a:t>16</a:t>
            </a:r>
            <a:r>
              <a:rPr lang="zh-CN" altLang="en-US" dirty="0"/>
              <a:t>进制形式）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</a:t>
            </a:r>
            <a:r>
              <a:rPr lang="en-US" altLang="zh-CN" dirty="0">
                <a:highlight>
                  <a:srgbClr val="FFFF00"/>
                </a:highlight>
              </a:rPr>
              <a:t>x  /20xb   main</a:t>
            </a:r>
            <a:endParaRPr lang="en-US" altLang="zh-CN" dirty="0">
              <a:highlight>
                <a:srgbClr val="FFFF00"/>
              </a:highlight>
            </a:endParaRPr>
          </a:p>
          <a:p>
            <a:pPr marL="457200" lvl="1" indent="4572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>
                <a:highlight>
                  <a:srgbClr val="FFFF00"/>
                </a:highlight>
              </a:rPr>
              <a:t>x/12b &amp;x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2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查看内存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28700"/>
            <a:ext cx="8383447" cy="346538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x/</a:t>
            </a:r>
            <a:r>
              <a:rPr lang="en-US" altLang="zh-CN" dirty="0" err="1"/>
              <a:t>fmt</a:t>
            </a:r>
            <a:r>
              <a:rPr lang="en-US" altLang="zh-CN" dirty="0"/>
              <a:t>  address        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是查看格式，</a:t>
            </a:r>
            <a:r>
              <a:rPr lang="en-US" altLang="zh-CN" dirty="0"/>
              <a:t>address </a:t>
            </a:r>
            <a:r>
              <a:rPr lang="zh-CN" altLang="en-US" dirty="0"/>
              <a:t>为地址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fmt</a:t>
            </a:r>
            <a:r>
              <a:rPr lang="en-US" altLang="zh-CN" dirty="0"/>
              <a:t>  </a:t>
            </a:r>
            <a:r>
              <a:rPr lang="zh-CN" altLang="en-US" dirty="0"/>
              <a:t>中包含的信息：</a:t>
            </a:r>
            <a:r>
              <a:rPr lang="en-US" altLang="zh-CN" dirty="0" err="1"/>
              <a:t>nfu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200" dirty="0"/>
              <a:t>    </a:t>
            </a:r>
            <a:r>
              <a:rPr lang="zh-CN" altLang="en-US" sz="2200" dirty="0">
                <a:solidFill>
                  <a:srgbClr val="FF0000"/>
                </a:solidFill>
              </a:rPr>
              <a:t>显示的内存单元的个数</a:t>
            </a:r>
            <a:r>
              <a:rPr lang="en-US" altLang="zh-CN" sz="2200" dirty="0">
                <a:solidFill>
                  <a:srgbClr val="FF0000"/>
                </a:solidFill>
              </a:rPr>
              <a:t>(n)</a:t>
            </a:r>
            <a:r>
              <a:rPr lang="zh-CN" altLang="en-US" sz="2200" dirty="0"/>
              <a:t>；缺省为 </a:t>
            </a:r>
            <a:r>
              <a:rPr lang="en-US" altLang="zh-CN" sz="2200" dirty="0"/>
              <a:t>1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r>
              <a:rPr lang="zh-CN" altLang="en-US" sz="2200" dirty="0">
                <a:solidFill>
                  <a:srgbClr val="FF0000"/>
                </a:solidFill>
              </a:rPr>
              <a:t>显示的格式</a:t>
            </a:r>
            <a:r>
              <a:rPr lang="en-US" altLang="zh-CN" sz="2200" dirty="0">
                <a:solidFill>
                  <a:srgbClr val="FF0000"/>
                </a:solidFill>
              </a:rPr>
              <a:t>(f)</a:t>
            </a:r>
            <a:r>
              <a:rPr lang="zh-CN" altLang="en-US" sz="2200" dirty="0"/>
              <a:t>：</a:t>
            </a:r>
            <a:r>
              <a:rPr lang="en-US" altLang="zh-CN" sz="2200" dirty="0"/>
              <a:t>x </a:t>
            </a:r>
            <a:r>
              <a:rPr lang="zh-CN" altLang="en-US" sz="2200" dirty="0"/>
              <a:t>十六进制；</a:t>
            </a:r>
            <a:r>
              <a:rPr lang="en-US" altLang="zh-CN" sz="2200" dirty="0"/>
              <a:t>d </a:t>
            </a:r>
            <a:r>
              <a:rPr lang="zh-CN" altLang="en-US" sz="2200" dirty="0"/>
              <a:t>十进制；</a:t>
            </a:r>
            <a:r>
              <a:rPr lang="en-US" altLang="zh-CN" sz="2200" dirty="0"/>
              <a:t>o </a:t>
            </a:r>
            <a:r>
              <a:rPr lang="zh-CN" altLang="en-US" sz="2200" dirty="0"/>
              <a:t>八进制； </a:t>
            </a:r>
            <a:r>
              <a:rPr lang="en-US" altLang="zh-CN" sz="2200" dirty="0"/>
              <a:t>t </a:t>
            </a:r>
            <a:r>
              <a:rPr lang="zh-CN" altLang="en-US" sz="2200" dirty="0"/>
              <a:t>二进制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u </a:t>
            </a:r>
            <a:r>
              <a:rPr lang="zh-CN" altLang="en-US" sz="2200" dirty="0"/>
              <a:t>十进制无符号数；   </a:t>
            </a:r>
            <a:r>
              <a:rPr lang="en-US" altLang="zh-CN" sz="2200" dirty="0"/>
              <a:t>f   </a:t>
            </a:r>
            <a:r>
              <a:rPr lang="zh-CN" altLang="en-US" sz="2200" dirty="0"/>
              <a:t>浮点数  </a:t>
            </a:r>
            <a:r>
              <a:rPr lang="en-US" altLang="zh-CN" sz="2200" dirty="0"/>
              <a:t>c </a:t>
            </a:r>
            <a:r>
              <a:rPr lang="zh-CN" altLang="en-US" sz="2200" dirty="0"/>
              <a:t>字符  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  </a:t>
            </a:r>
            <a:r>
              <a:rPr lang="zh-CN" altLang="en-US" sz="2200" dirty="0"/>
              <a:t>指令地址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s </a:t>
            </a:r>
            <a:r>
              <a:rPr lang="zh-CN" altLang="en-US" sz="2200" dirty="0"/>
              <a:t>字符串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200" dirty="0"/>
              <a:t>   </a:t>
            </a:r>
            <a:r>
              <a:rPr lang="zh-CN" altLang="en-US" sz="2200" dirty="0">
                <a:solidFill>
                  <a:srgbClr val="FF0000"/>
                </a:solidFill>
              </a:rPr>
              <a:t>每个内存单元的大小</a:t>
            </a:r>
            <a:r>
              <a:rPr lang="en-US" altLang="zh-CN" sz="2200" dirty="0">
                <a:solidFill>
                  <a:srgbClr val="FF0000"/>
                </a:solidFill>
              </a:rPr>
              <a:t>(u)</a:t>
            </a:r>
            <a:r>
              <a:rPr lang="zh-CN" altLang="en-US" sz="2200" dirty="0">
                <a:solidFill>
                  <a:srgbClr val="FF0000"/>
                </a:solidFill>
              </a:rPr>
              <a:t> </a:t>
            </a:r>
            <a:r>
              <a:rPr lang="zh-CN" altLang="en-US" sz="2200" dirty="0"/>
              <a:t>：</a:t>
            </a:r>
            <a:r>
              <a:rPr lang="en-US" altLang="zh-CN" sz="2200" dirty="0"/>
              <a:t>b</a:t>
            </a:r>
            <a:r>
              <a:rPr lang="zh-CN" altLang="en-US" sz="2200" dirty="0"/>
              <a:t>：</a:t>
            </a:r>
            <a:r>
              <a:rPr lang="en-US" altLang="zh-CN" sz="2200" dirty="0"/>
              <a:t> 1</a:t>
            </a:r>
            <a:r>
              <a:rPr lang="zh-CN" altLang="en-US" sz="2200" dirty="0"/>
              <a:t>字节，</a:t>
            </a:r>
            <a:r>
              <a:rPr lang="en-US" altLang="zh-CN" sz="2200" dirty="0"/>
              <a:t>h</a:t>
            </a:r>
            <a:r>
              <a:rPr lang="zh-CN" altLang="en-US" sz="2200" dirty="0"/>
              <a:t>：</a:t>
            </a:r>
            <a:r>
              <a:rPr lang="en-US" altLang="zh-CN" sz="2200" dirty="0"/>
              <a:t>2</a:t>
            </a:r>
            <a:r>
              <a:rPr lang="zh-CN" altLang="en-US" sz="2200" dirty="0"/>
              <a:t>字节，</a:t>
            </a:r>
            <a:r>
              <a:rPr lang="en-US" altLang="zh-CN" sz="2200" dirty="0"/>
              <a:t>w</a:t>
            </a:r>
            <a:r>
              <a:rPr lang="zh-CN" altLang="en-US" sz="2200" dirty="0"/>
              <a:t>：</a:t>
            </a:r>
            <a:r>
              <a:rPr lang="en-US" altLang="zh-CN" sz="2200" dirty="0"/>
              <a:t>4</a:t>
            </a:r>
            <a:r>
              <a:rPr lang="zh-CN" altLang="en-US" sz="2200" dirty="0"/>
              <a:t>字节</a:t>
            </a:r>
            <a:r>
              <a:rPr lang="en-US" altLang="zh-CN" sz="2200" dirty="0"/>
              <a:t>,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                                        g</a:t>
            </a:r>
            <a:r>
              <a:rPr lang="zh-CN" altLang="en-US" sz="2200" dirty="0"/>
              <a:t>：</a:t>
            </a:r>
            <a:r>
              <a:rPr lang="en-US" altLang="zh-CN" sz="2200" dirty="0"/>
              <a:t>8</a:t>
            </a:r>
            <a:r>
              <a:rPr lang="zh-CN" altLang="en-US" sz="2200" dirty="0"/>
              <a:t>字节 缺省为 </a:t>
            </a:r>
            <a:r>
              <a:rPr lang="en-US" altLang="zh-CN" sz="2200" dirty="0"/>
              <a:t>4</a:t>
            </a:r>
            <a:r>
              <a:rPr lang="zh-CN" altLang="en-US" sz="2200" dirty="0"/>
              <a:t>字节</a:t>
            </a:r>
            <a:endParaRPr lang="en-US" altLang="zh-CN" sz="22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查看内存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25" y="4329100"/>
            <a:ext cx="8793489" cy="21152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96206"/>
            <a:ext cx="8383447" cy="204772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display  /</a:t>
            </a:r>
            <a:r>
              <a:rPr lang="en-US" altLang="zh-CN" dirty="0" err="1"/>
              <a:t>fmt</a:t>
            </a:r>
            <a:r>
              <a:rPr lang="en-US" altLang="zh-CN" dirty="0"/>
              <a:t>   exp   </a:t>
            </a:r>
            <a:r>
              <a:rPr lang="zh-CN" altLang="en-US" dirty="0"/>
              <a:t>以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格式查看表达式</a:t>
            </a:r>
            <a:r>
              <a:rPr lang="en-US" altLang="zh-CN" dirty="0"/>
              <a:t>exp </a:t>
            </a:r>
            <a:r>
              <a:rPr lang="zh-CN" altLang="en-US" dirty="0"/>
              <a:t>的值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每次运行暂停，显示</a:t>
            </a:r>
            <a:r>
              <a:rPr lang="en-US" altLang="zh-CN" dirty="0"/>
              <a:t>display</a:t>
            </a:r>
            <a:r>
              <a:rPr lang="zh-CN" altLang="en-US" dirty="0"/>
              <a:t>设置的要观察的表达式的值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display </a:t>
            </a:r>
            <a:r>
              <a:rPr lang="zh-CN" altLang="en-US" dirty="0"/>
              <a:t>： 列出要显示的表达式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undisplay  </a:t>
            </a:r>
            <a:r>
              <a:rPr lang="zh-CN" altLang="en-US" dirty="0"/>
              <a:t>编号</a:t>
            </a:r>
            <a:r>
              <a:rPr lang="en-US" altLang="zh-CN" dirty="0"/>
              <a:t>1 [,</a:t>
            </a:r>
            <a:r>
              <a:rPr lang="zh-CN" altLang="en-US" dirty="0"/>
              <a:t>编号</a:t>
            </a:r>
            <a:r>
              <a:rPr lang="en-US" altLang="zh-CN" dirty="0"/>
              <a:t>2]  </a:t>
            </a:r>
            <a:r>
              <a:rPr lang="zh-CN" altLang="en-US" dirty="0"/>
              <a:t>取消表达式的显示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endParaRPr lang="en-US" altLang="zh-CN" sz="20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显示表达式的值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0" y="3023955"/>
            <a:ext cx="5734463" cy="32540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96206"/>
            <a:ext cx="8383447" cy="276780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watch  exp    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当被设置的观察点变量发生变化时，打印显示！</a:t>
            </a:r>
            <a:endParaRPr lang="zh-CN" altLang="en-US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</a:t>
            </a:r>
            <a:r>
              <a:rPr lang="zh-CN" altLang="en-US" dirty="0"/>
              <a:t>与 </a:t>
            </a:r>
            <a:r>
              <a:rPr lang="en-US" altLang="zh-CN" dirty="0"/>
              <a:t>display </a:t>
            </a:r>
            <a:r>
              <a:rPr lang="zh-CN" altLang="en-US" dirty="0"/>
              <a:t>命令一直显示某个变量的值的方式相比，用 </a:t>
            </a:r>
            <a:r>
              <a:rPr lang="en-US" altLang="zh-CN" dirty="0"/>
              <a:t>watch </a:t>
            </a:r>
            <a:r>
              <a:rPr lang="zh-CN" altLang="en-US" dirty="0"/>
              <a:t>命令只显示变量值的变化情况，如果变量值不变则不显示，调试效率要高很多。</a:t>
            </a:r>
            <a:endParaRPr lang="zh-CN" altLang="en-US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监视</a:t>
            </a:r>
            <a:r>
              <a:rPr lang="zh-CN" altLang="en-US" sz="3200" dirty="0">
                <a:ea typeface="黑体" panose="02010609060101010101" pitchFamily="49" charset="-122"/>
              </a:rPr>
              <a:t>表达式的值改变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20" y="1268760"/>
            <a:ext cx="8792960" cy="52655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6555" y="7287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使用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help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，获取帮助信息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1043736"/>
            <a:ext cx="8383447" cy="418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类名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</a:t>
            </a:r>
            <a:r>
              <a:rPr lang="zh-CN" altLang="en-US" kern="0" dirty="0"/>
              <a:t> 命令被分成了多个类（如</a:t>
            </a:r>
            <a:r>
              <a:rPr lang="en-US" altLang="zh-CN" kern="0" dirty="0"/>
              <a:t>data, </a:t>
            </a:r>
            <a:r>
              <a:rPr lang="en-US" altLang="zh-CN" kern="0" dirty="0" err="1"/>
              <a:t>running,files</a:t>
            </a:r>
            <a:r>
              <a:rPr lang="en-US" altLang="zh-CN" kern="0" dirty="0"/>
              <a:t>,…</a:t>
            </a:r>
            <a:r>
              <a:rPr lang="zh-CN" altLang="en-US" kern="0" dirty="0"/>
              <a:t>），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</a:t>
            </a:r>
            <a:r>
              <a:rPr lang="zh-CN" altLang="en-US" kern="0" dirty="0"/>
              <a:t>得到该类下的命令；</a:t>
            </a:r>
            <a:endParaRPr lang="en-US" altLang="zh-CN" kern="0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 help  all   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 </a:t>
            </a:r>
            <a:r>
              <a:rPr lang="zh-CN" altLang="en-US" kern="0" dirty="0"/>
              <a:t>获取所有的命令帮助信息</a:t>
            </a:r>
            <a:endParaRPr lang="en-US" altLang="zh-CN" kern="0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  </a:t>
            </a:r>
            <a:r>
              <a:rPr lang="zh-CN" altLang="en-US" kern="0" dirty="0"/>
              <a:t>命令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 </a:t>
            </a:r>
            <a:r>
              <a:rPr lang="zh-CN" altLang="en-US" kern="0" dirty="0"/>
              <a:t>获取一个命令的帮助信息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000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28700"/>
            <a:ext cx="838344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类名   ： </a:t>
            </a:r>
            <a:r>
              <a:rPr lang="zh-CN" altLang="en-US" kern="0" dirty="0">
                <a:solidFill>
                  <a:srgbClr val="FF0000"/>
                </a:solidFill>
              </a:rPr>
              <a:t>获取一个类的操作命令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535" y="1290675"/>
            <a:ext cx="8454112" cy="53608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28700"/>
            <a:ext cx="838344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命令   ： </a:t>
            </a:r>
            <a:r>
              <a:rPr lang="zh-CN" altLang="en-US" kern="0" dirty="0">
                <a:solidFill>
                  <a:srgbClr val="FF0000"/>
                </a:solidFill>
              </a:rPr>
              <a:t>获取一个操作命令的帮助信息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57" y="1889970"/>
            <a:ext cx="8937485" cy="30780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6564" y="941738"/>
            <a:ext cx="5985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通过 </a:t>
            </a:r>
            <a:r>
              <a:rPr lang="en-US" altLang="zh-CN" sz="2400" b="1" dirty="0"/>
              <a:t>CMD </a:t>
            </a:r>
            <a:r>
              <a:rPr lang="zh-CN" altLang="en-US" sz="2400" b="1" dirty="0"/>
              <a:t>窗口属性的设置来调整</a:t>
            </a:r>
            <a:endParaRPr lang="zh-CN" altLang="en-US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05" y="2128278"/>
            <a:ext cx="6255696" cy="39165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94297" y="1502473"/>
            <a:ext cx="744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单击窗口左上角的图标，在弹出菜单上单击“属性”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48" y="1754124"/>
            <a:ext cx="6255696" cy="39165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41530" y="813197"/>
            <a:ext cx="744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在“属性”窗口中，可设置“字体”，“颜色”等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975" y="1495792"/>
            <a:ext cx="3645405" cy="45490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1530" y="813197"/>
            <a:ext cx="8415935" cy="538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hlinkClick r:id="rId1"/>
              </a:rPr>
              <a:t>https://sourceware.org/gdb/</a:t>
            </a:r>
            <a:endParaRPr lang="en-US" altLang="zh-CN" sz="2400" b="1" dirty="0"/>
          </a:p>
          <a:p>
            <a:endParaRPr lang="en-US" altLang="zh-CN" sz="2400" b="1" dirty="0"/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+mn-ea"/>
                <a:ea typeface="+mn-ea"/>
              </a:rPr>
              <a:t>在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中使用命令：</a:t>
            </a:r>
            <a:r>
              <a:rPr lang="en-US" altLang="zh-CN" sz="2400" b="1" dirty="0">
                <a:latin typeface="+mn-ea"/>
                <a:ea typeface="+mn-ea"/>
              </a:rPr>
              <a:t>set style </a:t>
            </a:r>
            <a:r>
              <a:rPr lang="en-US" altLang="zh-CN" sz="2400" b="1" dirty="0" err="1">
                <a:latin typeface="+mn-ea"/>
                <a:ea typeface="+mn-ea"/>
              </a:rPr>
              <a:t>textType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en-US" altLang="zh-CN" sz="2400" b="1" dirty="0" err="1">
                <a:latin typeface="+mn-ea"/>
                <a:ea typeface="+mn-ea"/>
              </a:rPr>
              <a:t>attr</a:t>
            </a:r>
            <a:r>
              <a:rPr lang="en-US" altLang="zh-CN" sz="2400" b="1" dirty="0">
                <a:latin typeface="+mn-ea"/>
                <a:ea typeface="+mn-ea"/>
              </a:rPr>
              <a:t>  value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textType</a:t>
            </a:r>
            <a:r>
              <a:rPr lang="zh-CN" altLang="en-US" sz="2400" b="1" dirty="0">
                <a:latin typeface="+mn-ea"/>
                <a:ea typeface="+mn-ea"/>
              </a:rPr>
              <a:t>： 源码 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source) </a:t>
            </a:r>
            <a:r>
              <a:rPr lang="zh-CN" altLang="en-US" sz="2400" b="1" dirty="0">
                <a:latin typeface="+mn-ea"/>
                <a:ea typeface="+mn-ea"/>
              </a:rPr>
              <a:t>、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地址 </a:t>
            </a:r>
            <a:r>
              <a:rPr lang="en-US" altLang="zh-CN" sz="2400" b="1" dirty="0">
                <a:latin typeface="+mn-ea"/>
                <a:ea typeface="+mn-ea"/>
              </a:rPr>
              <a:t>( address)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attr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：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背景颜色 </a:t>
            </a:r>
            <a:r>
              <a:rPr lang="en-US" altLang="zh-CN" sz="2400" b="1" dirty="0">
                <a:latin typeface="+mn-ea"/>
                <a:ea typeface="+mn-ea"/>
              </a:rPr>
              <a:t>(background)</a:t>
            </a:r>
            <a:r>
              <a:rPr lang="zh-CN" altLang="en-US" sz="2400" b="1" dirty="0">
                <a:latin typeface="+mn-ea"/>
                <a:ea typeface="+mn-ea"/>
              </a:rPr>
              <a:t>、字体颜色 </a:t>
            </a:r>
            <a:r>
              <a:rPr lang="en-US" altLang="zh-CN" sz="2400" b="1" dirty="0">
                <a:latin typeface="+mn-ea"/>
                <a:ea typeface="+mn-ea"/>
              </a:rPr>
              <a:t>(foreground)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 </a:t>
            </a:r>
            <a:r>
              <a:rPr lang="zh-CN" altLang="en-US" sz="2400" b="1" dirty="0">
                <a:latin typeface="+mn-ea"/>
                <a:ea typeface="+mn-ea"/>
              </a:rPr>
              <a:t>粗细（</a:t>
            </a:r>
            <a:r>
              <a:rPr lang="en-US" altLang="zh-CN" sz="2400" b="1" dirty="0">
                <a:latin typeface="+mn-ea"/>
                <a:ea typeface="+mn-ea"/>
              </a:rPr>
              <a:t>intensity</a:t>
            </a:r>
            <a:r>
              <a:rPr lang="zh-CN" altLang="en-US" sz="2400" b="1" dirty="0">
                <a:latin typeface="+mn-ea"/>
                <a:ea typeface="+mn-ea"/>
              </a:rPr>
              <a:t>）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value </a:t>
            </a:r>
            <a:r>
              <a:rPr lang="zh-CN" altLang="en-US" sz="2400" b="1" dirty="0">
                <a:latin typeface="+mn-ea"/>
                <a:ea typeface="+mn-ea"/>
              </a:rPr>
              <a:t>：颜色或者粗细 （</a:t>
            </a:r>
            <a:r>
              <a:rPr lang="en-US" altLang="zh-CN" sz="2400" b="1" dirty="0">
                <a:latin typeface="+mn-ea"/>
                <a:ea typeface="+mn-ea"/>
              </a:rPr>
              <a:t>normal, bold, dim</a:t>
            </a:r>
            <a:r>
              <a:rPr lang="zh-CN" altLang="en-US" sz="2400" b="1" dirty="0">
                <a:latin typeface="+mn-ea"/>
                <a:ea typeface="+mn-ea"/>
              </a:rPr>
              <a:t>）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set style address foreground green 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; </a:t>
            </a:r>
            <a:r>
              <a:rPr lang="zh-CN" altLang="en-US" sz="2400" b="1" dirty="0">
                <a:latin typeface="+mn-ea"/>
                <a:ea typeface="+mn-ea"/>
              </a:rPr>
              <a:t>设置地址显示的前景色为 绿色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set style address intensity bold 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; </a:t>
            </a:r>
            <a:r>
              <a:rPr lang="zh-CN" altLang="en-US" sz="2400" b="1" dirty="0">
                <a:latin typeface="+mn-ea"/>
                <a:ea typeface="+mn-ea"/>
              </a:rPr>
              <a:t>设置地址显示粗体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5726" y="729078"/>
            <a:ext cx="7878156" cy="603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layout  </a:t>
            </a:r>
            <a:r>
              <a:rPr lang="zh-CN" altLang="en-US" sz="2400" b="1" dirty="0">
                <a:latin typeface="+mn-ea"/>
                <a:ea typeface="+mn-ea"/>
              </a:rPr>
              <a:t>设置布局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(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en-US" altLang="zh-CN" sz="2400" b="1" dirty="0">
                <a:latin typeface="+mn-ea"/>
                <a:ea typeface="+mn-ea"/>
              </a:rPr>
              <a:t>)  help  layout   //  </a:t>
            </a:r>
            <a:r>
              <a:rPr lang="zh-CN" altLang="en-US" sz="2400" b="1" dirty="0">
                <a:latin typeface="+mn-ea"/>
                <a:ea typeface="+mn-ea"/>
              </a:rPr>
              <a:t>显示 </a:t>
            </a:r>
            <a:r>
              <a:rPr lang="en-US" altLang="zh-CN" sz="2400" b="1" dirty="0">
                <a:latin typeface="+mn-ea"/>
                <a:ea typeface="+mn-ea"/>
              </a:rPr>
              <a:t>layout</a:t>
            </a:r>
            <a:r>
              <a:rPr lang="zh-CN" altLang="en-US" sz="2400" b="1" dirty="0">
                <a:latin typeface="+mn-ea"/>
                <a:ea typeface="+mn-ea"/>
              </a:rPr>
              <a:t>的用法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src</a:t>
            </a:r>
            <a:r>
              <a:rPr lang="en-US" altLang="zh-CN" sz="2400" b="1" dirty="0">
                <a:latin typeface="+mn-ea"/>
                <a:ea typeface="+mn-ea"/>
              </a:rPr>
              <a:t>   // </a:t>
            </a:r>
            <a:r>
              <a:rPr lang="zh-CN" altLang="en-US" sz="2400" b="1" dirty="0">
                <a:latin typeface="+mn-ea"/>
                <a:ea typeface="+mn-ea"/>
              </a:rPr>
              <a:t>显示源程序窗、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zh-CN" altLang="en-US" sz="2400" b="1" dirty="0">
                <a:latin typeface="+mn-ea"/>
                <a:ea typeface="+mn-ea"/>
              </a:rPr>
              <a:t>命令窗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asm</a:t>
            </a:r>
            <a:r>
              <a:rPr lang="en-US" altLang="zh-CN" sz="2400" b="1" dirty="0">
                <a:latin typeface="+mn-ea"/>
                <a:ea typeface="+mn-ea"/>
              </a:rPr>
              <a:t>   //</a:t>
            </a:r>
            <a:r>
              <a:rPr lang="zh-CN" altLang="en-US" sz="2400" b="1" dirty="0">
                <a:latin typeface="+mn-ea"/>
                <a:ea typeface="+mn-ea"/>
              </a:rPr>
              <a:t>源程序窗、反汇编窗、命令窗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regs</a:t>
            </a: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 // </a:t>
            </a:r>
            <a:r>
              <a:rPr lang="zh-CN" altLang="en-US" sz="2400" b="1" dirty="0">
                <a:latin typeface="+mn-ea"/>
                <a:ea typeface="+mn-ea"/>
              </a:rPr>
              <a:t>增加 寄存器窗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prev</a:t>
            </a:r>
            <a:r>
              <a:rPr lang="en-US" altLang="zh-CN" sz="2400" b="1" dirty="0">
                <a:latin typeface="+mn-ea"/>
                <a:ea typeface="+mn-ea"/>
              </a:rPr>
              <a:t>  // </a:t>
            </a:r>
            <a:r>
              <a:rPr lang="zh-CN" altLang="en-US" sz="2400" b="1" dirty="0">
                <a:latin typeface="+mn-ea"/>
                <a:ea typeface="+mn-ea"/>
              </a:rPr>
              <a:t>前一个窗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next  //</a:t>
            </a:r>
            <a:r>
              <a:rPr lang="zh-CN" altLang="en-US" sz="2400" b="1" dirty="0">
                <a:latin typeface="+mn-ea"/>
                <a:ea typeface="+mn-ea"/>
              </a:rPr>
              <a:t> 下一个窗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info wins  // </a:t>
            </a:r>
            <a:r>
              <a:rPr lang="zh-CN" altLang="en-US" sz="2400" b="1" dirty="0">
                <a:latin typeface="+mn-ea"/>
                <a:ea typeface="+mn-ea"/>
              </a:rPr>
              <a:t>显示窗口信息 行数，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en-US" altLang="zh-CN" sz="2400" b="1" dirty="0" err="1">
                <a:latin typeface="+mn-ea"/>
                <a:ea typeface="+mn-ea"/>
              </a:rPr>
              <a:t>winheight</a:t>
            </a: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en-US" altLang="zh-CN" sz="2400" b="1" dirty="0" err="1">
                <a:latin typeface="+mn-ea"/>
                <a:ea typeface="+mn-ea"/>
              </a:rPr>
              <a:t>nme</a:t>
            </a:r>
            <a:r>
              <a:rPr lang="en-US" altLang="zh-CN" sz="2400" b="1" dirty="0">
                <a:latin typeface="+mn-ea"/>
                <a:ea typeface="+mn-ea"/>
              </a:rPr>
              <a:t>  [+ /-] line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update     </a:t>
            </a:r>
            <a:r>
              <a:rPr lang="zh-CN" altLang="en-US" sz="2400" b="1" dirty="0">
                <a:latin typeface="+mn-ea"/>
                <a:ea typeface="+mn-ea"/>
              </a:rPr>
              <a:t>更新源代码窗和当前执行点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refresh    </a:t>
            </a:r>
            <a:r>
              <a:rPr lang="zh-CN" altLang="en-US" sz="2400" b="1" dirty="0">
                <a:latin typeface="+mn-ea"/>
                <a:ea typeface="+mn-ea"/>
              </a:rPr>
              <a:t>刷新所有窗口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focus     </a:t>
            </a:r>
            <a:r>
              <a:rPr lang="en-US" altLang="zh-CN" sz="2400" b="1" dirty="0" err="1">
                <a:latin typeface="+mn-ea"/>
                <a:ea typeface="+mn-ea"/>
              </a:rPr>
              <a:t>cmd</a:t>
            </a:r>
            <a:r>
              <a:rPr lang="en-US" altLang="zh-CN" sz="2400" b="1" dirty="0">
                <a:latin typeface="+mn-ea"/>
                <a:ea typeface="+mn-ea"/>
              </a:rPr>
              <a:t>/</a:t>
            </a:r>
            <a:r>
              <a:rPr lang="en-US" altLang="zh-CN" sz="2400" b="1" dirty="0" err="1">
                <a:latin typeface="+mn-ea"/>
                <a:ea typeface="+mn-ea"/>
              </a:rPr>
              <a:t>src</a:t>
            </a:r>
            <a:r>
              <a:rPr lang="en-US" altLang="zh-CN" sz="2400" b="1" dirty="0">
                <a:latin typeface="+mn-ea"/>
                <a:ea typeface="+mn-ea"/>
              </a:rPr>
              <a:t>/</a:t>
            </a:r>
            <a:r>
              <a:rPr lang="en-US" altLang="zh-CN" sz="2400" b="1" dirty="0" err="1">
                <a:latin typeface="+mn-ea"/>
                <a:ea typeface="+mn-ea"/>
              </a:rPr>
              <a:t>asm</a:t>
            </a:r>
            <a:r>
              <a:rPr lang="en-US" altLang="zh-CN" sz="2400" b="1" dirty="0">
                <a:latin typeface="+mn-ea"/>
                <a:ea typeface="+mn-ea"/>
              </a:rPr>
              <a:t>/regs/next/</a:t>
            </a:r>
            <a:r>
              <a:rPr lang="en-US" altLang="zh-CN" sz="2400" b="1" dirty="0" err="1">
                <a:latin typeface="+mn-ea"/>
                <a:ea typeface="+mn-ea"/>
              </a:rPr>
              <a:t>prev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endParaRPr lang="en-US" altLang="zh-CN" sz="24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645" y="1754575"/>
            <a:ext cx="5625625" cy="415840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59" y="791612"/>
            <a:ext cx="8075241" cy="95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layout  </a:t>
            </a:r>
            <a:r>
              <a:rPr lang="zh-CN" altLang="en-US" sz="2400" b="1" dirty="0">
                <a:latin typeface="+mn-ea"/>
                <a:ea typeface="+mn-ea"/>
              </a:rPr>
              <a:t>设置布局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+mn-ea"/>
                <a:ea typeface="+mn-ea"/>
              </a:rPr>
              <a:t>用箭头键，可以对焦点窗口上下、左右移动或翻页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1558" y="6066388"/>
            <a:ext cx="6660741" cy="39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b="1" dirty="0">
                <a:latin typeface="+mn-ea"/>
                <a:ea typeface="+mn-ea"/>
              </a:rPr>
              <a:t>Ctrl-x  a :  </a:t>
            </a:r>
            <a:r>
              <a:rPr lang="zh-CN" altLang="en-US" sz="1800" b="1" dirty="0">
                <a:latin typeface="+mn-ea"/>
                <a:ea typeface="+mn-ea"/>
              </a:rPr>
              <a:t>切换 </a:t>
            </a:r>
            <a:r>
              <a:rPr lang="zh-CN" altLang="en-US" b="1" dirty="0">
                <a:latin typeface="+mn-ea"/>
                <a:ea typeface="+mn-ea"/>
              </a:rPr>
              <a:t>显示不同窗口个数的布局</a:t>
            </a:r>
            <a:endParaRPr lang="en-US" altLang="zh-CN" sz="18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4872</Words>
  <Application>WPS 演示</Application>
  <PresentationFormat>全屏显示(4:3)</PresentationFormat>
  <Paragraphs>294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Arial</vt:lpstr>
      <vt:lpstr>宋体</vt:lpstr>
      <vt:lpstr>Wingdings</vt:lpstr>
      <vt:lpstr>黑体</vt:lpstr>
      <vt:lpstr>微软雅黑</vt:lpstr>
      <vt:lpstr>Arial Unicode MS</vt:lpstr>
      <vt:lpstr>Times New Roman</vt:lpstr>
      <vt:lpstr>默认设计模板</vt:lpstr>
      <vt:lpstr>  gdb 操作说明   </vt:lpstr>
      <vt:lpstr>调试准备</vt:lpstr>
      <vt:lpstr>基本命令和功能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《计算机组成原理》 精品课程建设的一点体会</dc:title>
  <dc:creator>Yuan Chunfeng</dc:creator>
  <cp:lastModifiedBy>这是一个坏名字</cp:lastModifiedBy>
  <cp:revision>2499</cp:revision>
  <dcterms:created xsi:type="dcterms:W3CDTF">2008-04-26T09:05:00Z</dcterms:created>
  <dcterms:modified xsi:type="dcterms:W3CDTF">2025-10-14T11:53:51Z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D01672EF3E804232AD41F250AEFA265D_12</vt:lpwstr>
  </property>
  <property fmtid="{D5CDD505-2E9C-101B-9397-08002B2CF9AE}" pid="3" name="KSOProductBuildVer">
    <vt:lpwstr>2052-12.1.0.22529</vt:lpwstr>
  </property>
</Properties>
</file>